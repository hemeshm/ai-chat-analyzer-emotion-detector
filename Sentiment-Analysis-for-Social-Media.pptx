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Red Hat Text" panose="020B0604020202020204" charset="0"/>
      <p:regular r:id="rId12"/>
    </p:embeddedFont>
    <p:embeddedFont>
      <p:font typeface="Roboto Light" panose="020F0502020204030204"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97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738193"/>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1F1E1E"/>
                </a:solidFill>
                <a:latin typeface="Red Hat Text" pitchFamily="34" charset="0"/>
                <a:ea typeface="Red Hat Text" pitchFamily="34" charset="-122"/>
                <a:cs typeface="Red Hat Text" pitchFamily="34" charset="-120"/>
              </a:rPr>
              <a:t>Sentiment Analysis for Social Media</a:t>
            </a:r>
            <a:endParaRPr lang="en-US" sz="4400" dirty="0"/>
          </a:p>
        </p:txBody>
      </p:sp>
      <p:sp>
        <p:nvSpPr>
          <p:cNvPr id="4" name="Text 1"/>
          <p:cNvSpPr/>
          <p:nvPr/>
        </p:nvSpPr>
        <p:spPr>
          <a:xfrm>
            <a:off x="837724" y="3505200"/>
            <a:ext cx="7468553" cy="2298144"/>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In the digital age, social media platforms generate vast amounts of unstructured text data in real time. Sentiment analysis provides a way to understand and interpret user emotions and public sentiment from this data. This project focuses on building a comprehensive sentiment analysis system that analyzes user-uploaded documents, social media chats, and web pages in real time.</a:t>
            </a:r>
            <a:endParaRPr lang="en-US" sz="1850" dirty="0"/>
          </a:p>
        </p:txBody>
      </p:sp>
      <p:sp>
        <p:nvSpPr>
          <p:cNvPr id="5" name="Shape 2"/>
          <p:cNvSpPr/>
          <p:nvPr/>
        </p:nvSpPr>
        <p:spPr>
          <a:xfrm>
            <a:off x="837724" y="6090404"/>
            <a:ext cx="382905" cy="382905"/>
          </a:xfrm>
          <a:prstGeom prst="roundRect">
            <a:avLst>
              <a:gd name="adj" fmla="val 23878209"/>
            </a:avLst>
          </a:prstGeom>
          <a:noFill/>
          <a:ln w="762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911191"/>
            <a:ext cx="8605838" cy="704017"/>
          </a:xfrm>
          <a:prstGeom prst="rect">
            <a:avLst/>
          </a:prstGeom>
          <a:noFill/>
          <a:ln/>
        </p:spPr>
        <p:txBody>
          <a:bodyPr wrap="none" lIns="0" tIns="0" rIns="0" bIns="0" rtlCol="0" anchor="t"/>
          <a:lstStyle/>
          <a:p>
            <a:pPr marL="0" indent="0" algn="l">
              <a:lnSpc>
                <a:spcPts val="5500"/>
              </a:lnSpc>
              <a:buNone/>
            </a:pPr>
            <a:r>
              <a:rPr lang="en-US" sz="4400" dirty="0">
                <a:solidFill>
                  <a:srgbClr val="1F1E1E"/>
                </a:solidFill>
                <a:latin typeface="Red Hat Text" pitchFamily="34" charset="0"/>
                <a:ea typeface="Red Hat Text" pitchFamily="34" charset="-122"/>
                <a:cs typeface="Red Hat Text" pitchFamily="34" charset="-120"/>
              </a:rPr>
              <a:t>Understanding Sentiment Analysis</a:t>
            </a:r>
            <a:endParaRPr lang="en-US" sz="4400" dirty="0"/>
          </a:p>
        </p:txBody>
      </p:sp>
      <p:sp>
        <p:nvSpPr>
          <p:cNvPr id="3" name="Text 1"/>
          <p:cNvSpPr/>
          <p:nvPr/>
        </p:nvSpPr>
        <p:spPr>
          <a:xfrm>
            <a:off x="837724" y="3213497"/>
            <a:ext cx="4764405" cy="351949"/>
          </a:xfrm>
          <a:prstGeom prst="rect">
            <a:avLst/>
          </a:prstGeom>
          <a:noFill/>
          <a:ln/>
        </p:spPr>
        <p:txBody>
          <a:bodyPr wrap="none" lIns="0" tIns="0" rIns="0" bIns="0" rtlCol="0" anchor="t"/>
          <a:lstStyle/>
          <a:p>
            <a:pPr marL="0" indent="0" algn="l">
              <a:lnSpc>
                <a:spcPts val="2750"/>
              </a:lnSpc>
              <a:buNone/>
            </a:pPr>
            <a:r>
              <a:rPr lang="en-US" sz="2200" dirty="0">
                <a:solidFill>
                  <a:srgbClr val="1F1E1E"/>
                </a:solidFill>
                <a:latin typeface="Red Hat Text" pitchFamily="34" charset="0"/>
                <a:ea typeface="Red Hat Text" pitchFamily="34" charset="-122"/>
                <a:cs typeface="Red Hat Text" pitchFamily="34" charset="-120"/>
              </a:rPr>
              <a:t>The Importance of Sentiment Analysis</a:t>
            </a:r>
            <a:endParaRPr lang="en-US" sz="2200" dirty="0"/>
          </a:p>
        </p:txBody>
      </p:sp>
      <p:sp>
        <p:nvSpPr>
          <p:cNvPr id="4" name="Text 2"/>
          <p:cNvSpPr/>
          <p:nvPr/>
        </p:nvSpPr>
        <p:spPr>
          <a:xfrm>
            <a:off x="837724" y="3804761"/>
            <a:ext cx="6185535" cy="2298144"/>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The exponential growth of social media and online communication has resulted in vast amounts of text data, reflecting public opinion, emotions, and attitudes. Understanding this data is crucial for businesses, policymakers, and individuals to gain insights into user behavior and market trends.</a:t>
            </a:r>
            <a:endParaRPr lang="en-US" sz="1850" dirty="0"/>
          </a:p>
        </p:txBody>
      </p:sp>
      <p:sp>
        <p:nvSpPr>
          <p:cNvPr id="5" name="Text 3"/>
          <p:cNvSpPr/>
          <p:nvPr/>
        </p:nvSpPr>
        <p:spPr>
          <a:xfrm>
            <a:off x="7614761" y="3213497"/>
            <a:ext cx="3497818" cy="351949"/>
          </a:xfrm>
          <a:prstGeom prst="rect">
            <a:avLst/>
          </a:prstGeom>
          <a:noFill/>
          <a:ln/>
        </p:spPr>
        <p:txBody>
          <a:bodyPr wrap="none" lIns="0" tIns="0" rIns="0" bIns="0" rtlCol="0" anchor="t"/>
          <a:lstStyle/>
          <a:p>
            <a:pPr marL="0" indent="0" algn="l">
              <a:lnSpc>
                <a:spcPts val="2750"/>
              </a:lnSpc>
              <a:buNone/>
            </a:pPr>
            <a:r>
              <a:rPr lang="en-US" sz="2200" dirty="0">
                <a:solidFill>
                  <a:srgbClr val="1F1E1E"/>
                </a:solidFill>
                <a:latin typeface="Red Hat Text" pitchFamily="34" charset="0"/>
                <a:ea typeface="Red Hat Text" pitchFamily="34" charset="-122"/>
                <a:cs typeface="Red Hat Text" pitchFamily="34" charset="-120"/>
              </a:rPr>
              <a:t>What is Sentiment Analysis?</a:t>
            </a:r>
            <a:endParaRPr lang="en-US" sz="2200" dirty="0"/>
          </a:p>
        </p:txBody>
      </p:sp>
      <p:sp>
        <p:nvSpPr>
          <p:cNvPr id="6" name="Text 4"/>
          <p:cNvSpPr/>
          <p:nvPr/>
        </p:nvSpPr>
        <p:spPr>
          <a:xfrm>
            <a:off x="7614761" y="3804761"/>
            <a:ext cx="6185535" cy="1915120"/>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Sentiment analysis is the process of analyzing text data to determine whether it reflects positive, negative, or neutral sentiments. It has gained prominence in natural language processing (NLP) for its ability to extract valuable insights from unstructured text.</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18292" y="488275"/>
            <a:ext cx="7907417" cy="1038939"/>
          </a:xfrm>
          <a:prstGeom prst="rect">
            <a:avLst/>
          </a:prstGeom>
          <a:noFill/>
          <a:ln/>
        </p:spPr>
        <p:txBody>
          <a:bodyPr wrap="square" lIns="0" tIns="0" rIns="0" bIns="0" rtlCol="0" anchor="t"/>
          <a:lstStyle/>
          <a:p>
            <a:pPr marL="0" indent="0" algn="l">
              <a:lnSpc>
                <a:spcPts val="4050"/>
              </a:lnSpc>
              <a:buNone/>
            </a:pPr>
            <a:r>
              <a:rPr lang="en-US" sz="3250" dirty="0">
                <a:solidFill>
                  <a:srgbClr val="1F1E1E"/>
                </a:solidFill>
                <a:latin typeface="Red Hat Text" pitchFamily="34" charset="0"/>
                <a:ea typeface="Red Hat Text" pitchFamily="34" charset="-122"/>
                <a:cs typeface="Red Hat Text" pitchFamily="34" charset="-120"/>
              </a:rPr>
              <a:t>Evolution of Sentiment Analysis Techniques</a:t>
            </a:r>
            <a:endParaRPr lang="en-US" sz="3250" dirty="0"/>
          </a:p>
        </p:txBody>
      </p:sp>
      <p:sp>
        <p:nvSpPr>
          <p:cNvPr id="4" name="Shape 1"/>
          <p:cNvSpPr/>
          <p:nvPr/>
        </p:nvSpPr>
        <p:spPr>
          <a:xfrm>
            <a:off x="817007" y="1792129"/>
            <a:ext cx="22860" cy="5949196"/>
          </a:xfrm>
          <a:prstGeom prst="roundRect">
            <a:avLst>
              <a:gd name="adj" fmla="val 115922"/>
            </a:avLst>
          </a:prstGeom>
          <a:solidFill>
            <a:srgbClr val="D9CECE"/>
          </a:solidFill>
          <a:ln/>
        </p:spPr>
      </p:sp>
      <p:sp>
        <p:nvSpPr>
          <p:cNvPr id="5" name="Shape 2"/>
          <p:cNvSpPr/>
          <p:nvPr/>
        </p:nvSpPr>
        <p:spPr>
          <a:xfrm>
            <a:off x="992862" y="2178129"/>
            <a:ext cx="529947" cy="22860"/>
          </a:xfrm>
          <a:prstGeom prst="roundRect">
            <a:avLst>
              <a:gd name="adj" fmla="val 115922"/>
            </a:avLst>
          </a:prstGeom>
          <a:solidFill>
            <a:srgbClr val="D9CECE"/>
          </a:solidFill>
          <a:ln/>
        </p:spPr>
      </p:sp>
      <p:sp>
        <p:nvSpPr>
          <p:cNvPr id="6" name="Shape 3"/>
          <p:cNvSpPr/>
          <p:nvPr/>
        </p:nvSpPr>
        <p:spPr>
          <a:xfrm>
            <a:off x="618292" y="1990844"/>
            <a:ext cx="397431" cy="397431"/>
          </a:xfrm>
          <a:prstGeom prst="roundRect">
            <a:avLst>
              <a:gd name="adj" fmla="val 6668"/>
            </a:avLst>
          </a:prstGeom>
          <a:solidFill>
            <a:srgbClr val="F3E8E8"/>
          </a:solidFill>
          <a:ln/>
        </p:spPr>
      </p:sp>
      <p:sp>
        <p:nvSpPr>
          <p:cNvPr id="7" name="Text 4"/>
          <p:cNvSpPr/>
          <p:nvPr/>
        </p:nvSpPr>
        <p:spPr>
          <a:xfrm>
            <a:off x="692348" y="2033707"/>
            <a:ext cx="249317" cy="311706"/>
          </a:xfrm>
          <a:prstGeom prst="rect">
            <a:avLst/>
          </a:prstGeom>
          <a:noFill/>
          <a:ln/>
        </p:spPr>
        <p:txBody>
          <a:bodyPr wrap="none" lIns="0" tIns="0" rIns="0" bIns="0" rtlCol="0" anchor="t"/>
          <a:lstStyle/>
          <a:p>
            <a:pPr marL="0" indent="0" algn="ctr">
              <a:lnSpc>
                <a:spcPts val="1950"/>
              </a:lnSpc>
              <a:buNone/>
            </a:pPr>
            <a:r>
              <a:rPr lang="en-US" sz="1950" dirty="0">
                <a:solidFill>
                  <a:srgbClr val="3B3535"/>
                </a:solidFill>
                <a:latin typeface="Red Hat Text" pitchFamily="34" charset="0"/>
                <a:ea typeface="Red Hat Text" pitchFamily="34" charset="-122"/>
                <a:cs typeface="Red Hat Text" pitchFamily="34" charset="-120"/>
              </a:rPr>
              <a:t>1</a:t>
            </a:r>
            <a:endParaRPr lang="en-US" sz="1950" dirty="0"/>
          </a:p>
        </p:txBody>
      </p:sp>
      <p:sp>
        <p:nvSpPr>
          <p:cNvPr id="8" name="Text 5"/>
          <p:cNvSpPr/>
          <p:nvPr/>
        </p:nvSpPr>
        <p:spPr>
          <a:xfrm>
            <a:off x="1700332" y="1968698"/>
            <a:ext cx="2258258" cy="259794"/>
          </a:xfrm>
          <a:prstGeom prst="rect">
            <a:avLst/>
          </a:prstGeom>
          <a:noFill/>
          <a:ln/>
        </p:spPr>
        <p:txBody>
          <a:bodyPr wrap="none" lIns="0" tIns="0" rIns="0" bIns="0" rtlCol="0" anchor="t"/>
          <a:lstStyle/>
          <a:p>
            <a:pPr marL="0" indent="0" algn="l">
              <a:lnSpc>
                <a:spcPts val="2000"/>
              </a:lnSpc>
              <a:buNone/>
            </a:pPr>
            <a:r>
              <a:rPr lang="en-US" sz="1600" dirty="0">
                <a:solidFill>
                  <a:srgbClr val="3B3535"/>
                </a:solidFill>
                <a:latin typeface="Red Hat Text" pitchFamily="34" charset="0"/>
                <a:ea typeface="Red Hat Text" pitchFamily="34" charset="-122"/>
                <a:cs typeface="Red Hat Text" pitchFamily="34" charset="-120"/>
              </a:rPr>
              <a:t>Lexicon-Based Methods</a:t>
            </a:r>
            <a:endParaRPr lang="en-US" sz="1600" dirty="0"/>
          </a:p>
        </p:txBody>
      </p:sp>
      <p:sp>
        <p:nvSpPr>
          <p:cNvPr id="9" name="Text 6"/>
          <p:cNvSpPr/>
          <p:nvPr/>
        </p:nvSpPr>
        <p:spPr>
          <a:xfrm>
            <a:off x="1700332" y="2334458"/>
            <a:ext cx="6825377" cy="847963"/>
          </a:xfrm>
          <a:prstGeom prst="rect">
            <a:avLst/>
          </a:prstGeom>
          <a:noFill/>
          <a:ln/>
        </p:spPr>
        <p:txBody>
          <a:bodyPr wrap="square" lIns="0" tIns="0" rIns="0" bIns="0" rtlCol="0" anchor="t"/>
          <a:lstStyle/>
          <a:p>
            <a:pPr marL="0" indent="0" algn="l">
              <a:lnSpc>
                <a:spcPts val="2200"/>
              </a:lnSpc>
              <a:buNone/>
            </a:pPr>
            <a:r>
              <a:rPr lang="en-US" sz="1350" dirty="0">
                <a:solidFill>
                  <a:srgbClr val="3B3535"/>
                </a:solidFill>
                <a:latin typeface="Roboto Light" pitchFamily="34" charset="0"/>
                <a:ea typeface="Roboto Light" pitchFamily="34" charset="-122"/>
                <a:cs typeface="Roboto Light" pitchFamily="34" charset="-120"/>
              </a:rPr>
              <a:t>Early approaches utilized predefined sentiment dictionaries like VADER and Text Blob to classify text. These methods often failed to capture complex emotions and required extensive manual effort.</a:t>
            </a:r>
            <a:endParaRPr lang="en-US" sz="1350" dirty="0"/>
          </a:p>
        </p:txBody>
      </p:sp>
      <p:sp>
        <p:nvSpPr>
          <p:cNvPr id="10" name="Shape 7"/>
          <p:cNvSpPr/>
          <p:nvPr/>
        </p:nvSpPr>
        <p:spPr>
          <a:xfrm>
            <a:off x="992862" y="3921562"/>
            <a:ext cx="529947" cy="22860"/>
          </a:xfrm>
          <a:prstGeom prst="roundRect">
            <a:avLst>
              <a:gd name="adj" fmla="val 115922"/>
            </a:avLst>
          </a:prstGeom>
          <a:solidFill>
            <a:srgbClr val="D9CECE"/>
          </a:solidFill>
          <a:ln/>
        </p:spPr>
      </p:sp>
      <p:sp>
        <p:nvSpPr>
          <p:cNvPr id="11" name="Shape 8"/>
          <p:cNvSpPr/>
          <p:nvPr/>
        </p:nvSpPr>
        <p:spPr>
          <a:xfrm>
            <a:off x="618292" y="3734276"/>
            <a:ext cx="397431" cy="397431"/>
          </a:xfrm>
          <a:prstGeom prst="roundRect">
            <a:avLst>
              <a:gd name="adj" fmla="val 6668"/>
            </a:avLst>
          </a:prstGeom>
          <a:solidFill>
            <a:srgbClr val="F3E8E8"/>
          </a:solidFill>
          <a:ln/>
        </p:spPr>
      </p:sp>
      <p:sp>
        <p:nvSpPr>
          <p:cNvPr id="12" name="Text 9"/>
          <p:cNvSpPr/>
          <p:nvPr/>
        </p:nvSpPr>
        <p:spPr>
          <a:xfrm>
            <a:off x="692348" y="3777139"/>
            <a:ext cx="249317" cy="311706"/>
          </a:xfrm>
          <a:prstGeom prst="rect">
            <a:avLst/>
          </a:prstGeom>
          <a:noFill/>
          <a:ln/>
        </p:spPr>
        <p:txBody>
          <a:bodyPr wrap="none" lIns="0" tIns="0" rIns="0" bIns="0" rtlCol="0" anchor="t"/>
          <a:lstStyle/>
          <a:p>
            <a:pPr marL="0" indent="0" algn="ctr">
              <a:lnSpc>
                <a:spcPts val="1950"/>
              </a:lnSpc>
              <a:buNone/>
            </a:pPr>
            <a:r>
              <a:rPr lang="en-US" sz="1950" dirty="0">
                <a:solidFill>
                  <a:srgbClr val="3B3535"/>
                </a:solidFill>
                <a:latin typeface="Red Hat Text" pitchFamily="34" charset="0"/>
                <a:ea typeface="Red Hat Text" pitchFamily="34" charset="-122"/>
                <a:cs typeface="Red Hat Text" pitchFamily="34" charset="-120"/>
              </a:rPr>
              <a:t>2</a:t>
            </a:r>
            <a:endParaRPr lang="en-US" sz="1950" dirty="0"/>
          </a:p>
        </p:txBody>
      </p:sp>
      <p:sp>
        <p:nvSpPr>
          <p:cNvPr id="13" name="Text 10"/>
          <p:cNvSpPr/>
          <p:nvPr/>
        </p:nvSpPr>
        <p:spPr>
          <a:xfrm>
            <a:off x="1700332" y="3712131"/>
            <a:ext cx="2369225" cy="259794"/>
          </a:xfrm>
          <a:prstGeom prst="rect">
            <a:avLst/>
          </a:prstGeom>
          <a:noFill/>
          <a:ln/>
        </p:spPr>
        <p:txBody>
          <a:bodyPr wrap="none" lIns="0" tIns="0" rIns="0" bIns="0" rtlCol="0" anchor="t"/>
          <a:lstStyle/>
          <a:p>
            <a:pPr marL="0" indent="0" algn="l">
              <a:lnSpc>
                <a:spcPts val="2000"/>
              </a:lnSpc>
              <a:buNone/>
            </a:pPr>
            <a:r>
              <a:rPr lang="en-US" sz="1600" dirty="0">
                <a:solidFill>
                  <a:srgbClr val="3B3535"/>
                </a:solidFill>
                <a:latin typeface="Red Hat Text" pitchFamily="34" charset="0"/>
                <a:ea typeface="Red Hat Text" pitchFamily="34" charset="-122"/>
                <a:cs typeface="Red Hat Text" pitchFamily="34" charset="-120"/>
              </a:rPr>
              <a:t>Machine Learning Models</a:t>
            </a:r>
            <a:endParaRPr lang="en-US" sz="1600" dirty="0"/>
          </a:p>
        </p:txBody>
      </p:sp>
      <p:sp>
        <p:nvSpPr>
          <p:cNvPr id="14" name="Text 11"/>
          <p:cNvSpPr/>
          <p:nvPr/>
        </p:nvSpPr>
        <p:spPr>
          <a:xfrm>
            <a:off x="1700332" y="4077891"/>
            <a:ext cx="6825377" cy="565309"/>
          </a:xfrm>
          <a:prstGeom prst="rect">
            <a:avLst/>
          </a:prstGeom>
          <a:noFill/>
          <a:ln/>
        </p:spPr>
        <p:txBody>
          <a:bodyPr wrap="square" lIns="0" tIns="0" rIns="0" bIns="0" rtlCol="0" anchor="t"/>
          <a:lstStyle/>
          <a:p>
            <a:pPr marL="0" indent="0" algn="l">
              <a:lnSpc>
                <a:spcPts val="2200"/>
              </a:lnSpc>
              <a:buNone/>
            </a:pPr>
            <a:r>
              <a:rPr lang="en-US" sz="1350" dirty="0">
                <a:solidFill>
                  <a:srgbClr val="3B3535"/>
                </a:solidFill>
                <a:latin typeface="Roboto Light" pitchFamily="34" charset="0"/>
                <a:ea typeface="Roboto Light" pitchFamily="34" charset="-122"/>
                <a:cs typeface="Roboto Light" pitchFamily="34" charset="-120"/>
              </a:rPr>
              <a:t>Models like Naive Bayes and Support Vector Machines (SVM) offered more scalable solutions, improving accuracy over lexicon-based methods.</a:t>
            </a:r>
            <a:endParaRPr lang="en-US" sz="1350" dirty="0"/>
          </a:p>
        </p:txBody>
      </p:sp>
      <p:sp>
        <p:nvSpPr>
          <p:cNvPr id="15" name="Shape 12"/>
          <p:cNvSpPr/>
          <p:nvPr/>
        </p:nvSpPr>
        <p:spPr>
          <a:xfrm>
            <a:off x="992862" y="5382339"/>
            <a:ext cx="529947" cy="22860"/>
          </a:xfrm>
          <a:prstGeom prst="roundRect">
            <a:avLst>
              <a:gd name="adj" fmla="val 115922"/>
            </a:avLst>
          </a:prstGeom>
          <a:solidFill>
            <a:srgbClr val="D9CECE"/>
          </a:solidFill>
          <a:ln/>
        </p:spPr>
      </p:sp>
      <p:sp>
        <p:nvSpPr>
          <p:cNvPr id="16" name="Shape 13"/>
          <p:cNvSpPr/>
          <p:nvPr/>
        </p:nvSpPr>
        <p:spPr>
          <a:xfrm>
            <a:off x="618292" y="5195054"/>
            <a:ext cx="397431" cy="397431"/>
          </a:xfrm>
          <a:prstGeom prst="roundRect">
            <a:avLst>
              <a:gd name="adj" fmla="val 6668"/>
            </a:avLst>
          </a:prstGeom>
          <a:solidFill>
            <a:srgbClr val="F3E8E8"/>
          </a:solidFill>
          <a:ln/>
        </p:spPr>
      </p:sp>
      <p:sp>
        <p:nvSpPr>
          <p:cNvPr id="17" name="Text 14"/>
          <p:cNvSpPr/>
          <p:nvPr/>
        </p:nvSpPr>
        <p:spPr>
          <a:xfrm>
            <a:off x="692348" y="5237917"/>
            <a:ext cx="249317" cy="311706"/>
          </a:xfrm>
          <a:prstGeom prst="rect">
            <a:avLst/>
          </a:prstGeom>
          <a:noFill/>
          <a:ln/>
        </p:spPr>
        <p:txBody>
          <a:bodyPr wrap="none" lIns="0" tIns="0" rIns="0" bIns="0" rtlCol="0" anchor="t"/>
          <a:lstStyle/>
          <a:p>
            <a:pPr marL="0" indent="0" algn="ctr">
              <a:lnSpc>
                <a:spcPts val="1950"/>
              </a:lnSpc>
              <a:buNone/>
            </a:pPr>
            <a:r>
              <a:rPr lang="en-US" sz="1950" dirty="0">
                <a:solidFill>
                  <a:srgbClr val="3B3535"/>
                </a:solidFill>
                <a:latin typeface="Red Hat Text" pitchFamily="34" charset="0"/>
                <a:ea typeface="Red Hat Text" pitchFamily="34" charset="-122"/>
                <a:cs typeface="Red Hat Text" pitchFamily="34" charset="-120"/>
              </a:rPr>
              <a:t>3</a:t>
            </a:r>
            <a:endParaRPr lang="en-US" sz="1950" dirty="0"/>
          </a:p>
        </p:txBody>
      </p:sp>
      <p:sp>
        <p:nvSpPr>
          <p:cNvPr id="18" name="Text 15"/>
          <p:cNvSpPr/>
          <p:nvPr/>
        </p:nvSpPr>
        <p:spPr>
          <a:xfrm>
            <a:off x="1700332" y="5172908"/>
            <a:ext cx="2522339" cy="259794"/>
          </a:xfrm>
          <a:prstGeom prst="rect">
            <a:avLst/>
          </a:prstGeom>
          <a:noFill/>
          <a:ln/>
        </p:spPr>
        <p:txBody>
          <a:bodyPr wrap="none" lIns="0" tIns="0" rIns="0" bIns="0" rtlCol="0" anchor="t"/>
          <a:lstStyle/>
          <a:p>
            <a:pPr marL="0" indent="0" algn="l">
              <a:lnSpc>
                <a:spcPts val="2000"/>
              </a:lnSpc>
              <a:buNone/>
            </a:pPr>
            <a:r>
              <a:rPr lang="en-US" sz="1600" dirty="0">
                <a:solidFill>
                  <a:srgbClr val="3B3535"/>
                </a:solidFill>
                <a:latin typeface="Red Hat Text" pitchFamily="34" charset="0"/>
                <a:ea typeface="Red Hat Text" pitchFamily="34" charset="-122"/>
                <a:cs typeface="Red Hat Text" pitchFamily="34" charset="-120"/>
              </a:rPr>
              <a:t>Deep Learning Approaches</a:t>
            </a:r>
            <a:endParaRPr lang="en-US" sz="1600" dirty="0"/>
          </a:p>
        </p:txBody>
      </p:sp>
      <p:sp>
        <p:nvSpPr>
          <p:cNvPr id="19" name="Text 16"/>
          <p:cNvSpPr/>
          <p:nvPr/>
        </p:nvSpPr>
        <p:spPr>
          <a:xfrm>
            <a:off x="1700332" y="5538668"/>
            <a:ext cx="6825377" cy="565309"/>
          </a:xfrm>
          <a:prstGeom prst="rect">
            <a:avLst/>
          </a:prstGeom>
          <a:noFill/>
          <a:ln/>
        </p:spPr>
        <p:txBody>
          <a:bodyPr wrap="square" lIns="0" tIns="0" rIns="0" bIns="0" rtlCol="0" anchor="t"/>
          <a:lstStyle/>
          <a:p>
            <a:pPr marL="0" indent="0" algn="l">
              <a:lnSpc>
                <a:spcPts val="2200"/>
              </a:lnSpc>
              <a:buNone/>
            </a:pPr>
            <a:r>
              <a:rPr lang="en-US" sz="1350" dirty="0">
                <a:solidFill>
                  <a:srgbClr val="3B3535"/>
                </a:solidFill>
                <a:latin typeface="Roboto Light" pitchFamily="34" charset="0"/>
                <a:ea typeface="Roboto Light" pitchFamily="34" charset="-122"/>
                <a:cs typeface="Roboto Light" pitchFamily="34" charset="-120"/>
              </a:rPr>
              <a:t>Using Recurrent Neural Networks (RNN) and Long Short-Term Memory (LSTM) models further improved accuracy in sentiment analysis.</a:t>
            </a:r>
            <a:endParaRPr lang="en-US" sz="1350" dirty="0"/>
          </a:p>
        </p:txBody>
      </p:sp>
      <p:sp>
        <p:nvSpPr>
          <p:cNvPr id="20" name="Shape 17"/>
          <p:cNvSpPr/>
          <p:nvPr/>
        </p:nvSpPr>
        <p:spPr>
          <a:xfrm>
            <a:off x="992862" y="6843117"/>
            <a:ext cx="529947" cy="22860"/>
          </a:xfrm>
          <a:prstGeom prst="roundRect">
            <a:avLst>
              <a:gd name="adj" fmla="val 115922"/>
            </a:avLst>
          </a:prstGeom>
          <a:solidFill>
            <a:srgbClr val="D9CECE"/>
          </a:solidFill>
          <a:ln/>
        </p:spPr>
      </p:sp>
      <p:sp>
        <p:nvSpPr>
          <p:cNvPr id="21" name="Shape 18"/>
          <p:cNvSpPr/>
          <p:nvPr/>
        </p:nvSpPr>
        <p:spPr>
          <a:xfrm>
            <a:off x="618292" y="6655832"/>
            <a:ext cx="397431" cy="397431"/>
          </a:xfrm>
          <a:prstGeom prst="roundRect">
            <a:avLst>
              <a:gd name="adj" fmla="val 6668"/>
            </a:avLst>
          </a:prstGeom>
          <a:solidFill>
            <a:srgbClr val="F3E8E8"/>
          </a:solidFill>
          <a:ln/>
        </p:spPr>
      </p:sp>
      <p:sp>
        <p:nvSpPr>
          <p:cNvPr id="22" name="Text 19"/>
          <p:cNvSpPr/>
          <p:nvPr/>
        </p:nvSpPr>
        <p:spPr>
          <a:xfrm>
            <a:off x="692348" y="6698694"/>
            <a:ext cx="249317" cy="311706"/>
          </a:xfrm>
          <a:prstGeom prst="rect">
            <a:avLst/>
          </a:prstGeom>
          <a:noFill/>
          <a:ln/>
        </p:spPr>
        <p:txBody>
          <a:bodyPr wrap="none" lIns="0" tIns="0" rIns="0" bIns="0" rtlCol="0" anchor="t"/>
          <a:lstStyle/>
          <a:p>
            <a:pPr marL="0" indent="0" algn="ctr">
              <a:lnSpc>
                <a:spcPts val="1950"/>
              </a:lnSpc>
              <a:buNone/>
            </a:pPr>
            <a:r>
              <a:rPr lang="en-US" sz="1950" dirty="0">
                <a:solidFill>
                  <a:srgbClr val="3B3535"/>
                </a:solidFill>
                <a:latin typeface="Red Hat Text" pitchFamily="34" charset="0"/>
                <a:ea typeface="Red Hat Text" pitchFamily="34" charset="-122"/>
                <a:cs typeface="Red Hat Text" pitchFamily="34" charset="-120"/>
              </a:rPr>
              <a:t>4</a:t>
            </a:r>
            <a:endParaRPr lang="en-US" sz="1950" dirty="0"/>
          </a:p>
        </p:txBody>
      </p:sp>
      <p:sp>
        <p:nvSpPr>
          <p:cNvPr id="23" name="Text 20"/>
          <p:cNvSpPr/>
          <p:nvPr/>
        </p:nvSpPr>
        <p:spPr>
          <a:xfrm>
            <a:off x="1700332" y="6633686"/>
            <a:ext cx="3021330" cy="259794"/>
          </a:xfrm>
          <a:prstGeom prst="rect">
            <a:avLst/>
          </a:prstGeom>
          <a:noFill/>
          <a:ln/>
        </p:spPr>
        <p:txBody>
          <a:bodyPr wrap="none" lIns="0" tIns="0" rIns="0" bIns="0" rtlCol="0" anchor="t"/>
          <a:lstStyle/>
          <a:p>
            <a:pPr marL="0" indent="0" algn="l">
              <a:lnSpc>
                <a:spcPts val="2000"/>
              </a:lnSpc>
              <a:buNone/>
            </a:pPr>
            <a:r>
              <a:rPr lang="en-US" sz="1600" dirty="0">
                <a:solidFill>
                  <a:srgbClr val="3B3535"/>
                </a:solidFill>
                <a:latin typeface="Red Hat Text" pitchFamily="34" charset="0"/>
                <a:ea typeface="Red Hat Text" pitchFamily="34" charset="-122"/>
                <a:cs typeface="Red Hat Text" pitchFamily="34" charset="-120"/>
              </a:rPr>
              <a:t>Transformers like BERT and GPT</a:t>
            </a:r>
            <a:endParaRPr lang="en-US" sz="1600" dirty="0"/>
          </a:p>
        </p:txBody>
      </p:sp>
      <p:sp>
        <p:nvSpPr>
          <p:cNvPr id="24" name="Text 21"/>
          <p:cNvSpPr/>
          <p:nvPr/>
        </p:nvSpPr>
        <p:spPr>
          <a:xfrm>
            <a:off x="1700332" y="6999446"/>
            <a:ext cx="6825377" cy="565309"/>
          </a:xfrm>
          <a:prstGeom prst="rect">
            <a:avLst/>
          </a:prstGeom>
          <a:noFill/>
          <a:ln/>
        </p:spPr>
        <p:txBody>
          <a:bodyPr wrap="square" lIns="0" tIns="0" rIns="0" bIns="0" rtlCol="0" anchor="t"/>
          <a:lstStyle/>
          <a:p>
            <a:pPr marL="0" indent="0" algn="l">
              <a:lnSpc>
                <a:spcPts val="2200"/>
              </a:lnSpc>
              <a:buNone/>
            </a:pPr>
            <a:r>
              <a:rPr lang="en-US" sz="1350" dirty="0">
                <a:solidFill>
                  <a:srgbClr val="3B3535"/>
                </a:solidFill>
                <a:latin typeface="Roboto Light" pitchFamily="34" charset="0"/>
                <a:ea typeface="Roboto Light" pitchFamily="34" charset="-122"/>
                <a:cs typeface="Roboto Light" pitchFamily="34" charset="-120"/>
              </a:rPr>
              <a:t>BERT's contextual embeddings enable it to understand the meaning of words in context, significantly improving sentiment classification and emotion detection.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27008" y="650319"/>
            <a:ext cx="7489984" cy="1389936"/>
          </a:xfrm>
          <a:prstGeom prst="rect">
            <a:avLst/>
          </a:prstGeom>
          <a:noFill/>
          <a:ln/>
        </p:spPr>
        <p:txBody>
          <a:bodyPr wrap="square" lIns="0" tIns="0" rIns="0" bIns="0" rtlCol="0" anchor="t"/>
          <a:lstStyle/>
          <a:p>
            <a:pPr marL="0" indent="0" algn="l">
              <a:lnSpc>
                <a:spcPts val="5450"/>
              </a:lnSpc>
              <a:buNone/>
            </a:pPr>
            <a:r>
              <a:rPr lang="en-US" sz="4350" dirty="0">
                <a:solidFill>
                  <a:srgbClr val="1F1E1E"/>
                </a:solidFill>
                <a:latin typeface="Red Hat Text" pitchFamily="34" charset="0"/>
                <a:ea typeface="Red Hat Text" pitchFamily="34" charset="-122"/>
                <a:cs typeface="Red Hat Text" pitchFamily="34" charset="-120"/>
              </a:rPr>
              <a:t>Challenges in Sentiment Analysis</a:t>
            </a:r>
            <a:endParaRPr lang="en-US" sz="4350" dirty="0"/>
          </a:p>
        </p:txBody>
      </p:sp>
      <p:sp>
        <p:nvSpPr>
          <p:cNvPr id="4" name="Shape 1"/>
          <p:cNvSpPr/>
          <p:nvPr/>
        </p:nvSpPr>
        <p:spPr>
          <a:xfrm>
            <a:off x="827008" y="2394704"/>
            <a:ext cx="3626882" cy="2852261"/>
          </a:xfrm>
          <a:prstGeom prst="roundRect">
            <a:avLst>
              <a:gd name="adj" fmla="val 1243"/>
            </a:avLst>
          </a:prstGeom>
          <a:solidFill>
            <a:srgbClr val="F3E8E8"/>
          </a:solidFill>
          <a:ln/>
        </p:spPr>
      </p:sp>
      <p:sp>
        <p:nvSpPr>
          <p:cNvPr id="5" name="Text 2"/>
          <p:cNvSpPr/>
          <p:nvPr/>
        </p:nvSpPr>
        <p:spPr>
          <a:xfrm>
            <a:off x="1063228" y="2630924"/>
            <a:ext cx="2780109" cy="347424"/>
          </a:xfrm>
          <a:prstGeom prst="rect">
            <a:avLst/>
          </a:prstGeom>
          <a:noFill/>
          <a:ln/>
        </p:spPr>
        <p:txBody>
          <a:bodyPr wrap="none" lIns="0" tIns="0" rIns="0" bIns="0" rtlCol="0" anchor="t"/>
          <a:lstStyle/>
          <a:p>
            <a:pPr marL="0" indent="0" algn="l">
              <a:lnSpc>
                <a:spcPts val="2700"/>
              </a:lnSpc>
              <a:buNone/>
            </a:pPr>
            <a:r>
              <a:rPr lang="en-US" sz="2150" dirty="0">
                <a:solidFill>
                  <a:srgbClr val="3B3535"/>
                </a:solidFill>
                <a:latin typeface="Red Hat Text" pitchFamily="34" charset="0"/>
                <a:ea typeface="Red Hat Text" pitchFamily="34" charset="-122"/>
                <a:cs typeface="Red Hat Text" pitchFamily="34" charset="-120"/>
              </a:rPr>
              <a:t>Diversity in Language</a:t>
            </a:r>
            <a:endParaRPr lang="en-US" sz="2150" dirty="0"/>
          </a:p>
        </p:txBody>
      </p:sp>
      <p:sp>
        <p:nvSpPr>
          <p:cNvPr id="6" name="Text 3"/>
          <p:cNvSpPr/>
          <p:nvPr/>
        </p:nvSpPr>
        <p:spPr>
          <a:xfrm>
            <a:off x="1063228" y="3120033"/>
            <a:ext cx="3154442" cy="1890713"/>
          </a:xfrm>
          <a:prstGeom prst="rect">
            <a:avLst/>
          </a:prstGeom>
          <a:noFill/>
          <a:ln/>
        </p:spPr>
        <p:txBody>
          <a:bodyPr wrap="square" lIns="0" tIns="0" rIns="0" bIns="0" rtlCol="0" anchor="t"/>
          <a:lstStyle/>
          <a:p>
            <a:pPr marL="0" indent="0" algn="l">
              <a:lnSpc>
                <a:spcPts val="2950"/>
              </a:lnSpc>
              <a:buNone/>
            </a:pPr>
            <a:r>
              <a:rPr lang="en-US" sz="1850" dirty="0">
                <a:solidFill>
                  <a:srgbClr val="3B3535"/>
                </a:solidFill>
                <a:latin typeface="Roboto Light" pitchFamily="34" charset="0"/>
                <a:ea typeface="Roboto Light" pitchFamily="34" charset="-122"/>
                <a:cs typeface="Roboto Light" pitchFamily="34" charset="-120"/>
              </a:rPr>
              <a:t>Social media texts contain slang, abbreviations, emojis, and informal language, which traditional models struggle to interpret accurately.</a:t>
            </a:r>
            <a:endParaRPr lang="en-US" sz="1850" dirty="0"/>
          </a:p>
        </p:txBody>
      </p:sp>
      <p:sp>
        <p:nvSpPr>
          <p:cNvPr id="7" name="Shape 4"/>
          <p:cNvSpPr/>
          <p:nvPr/>
        </p:nvSpPr>
        <p:spPr>
          <a:xfrm>
            <a:off x="4690110" y="2394704"/>
            <a:ext cx="3626882" cy="2852261"/>
          </a:xfrm>
          <a:prstGeom prst="roundRect">
            <a:avLst>
              <a:gd name="adj" fmla="val 1243"/>
            </a:avLst>
          </a:prstGeom>
          <a:solidFill>
            <a:srgbClr val="F3E8E8"/>
          </a:solidFill>
          <a:ln/>
        </p:spPr>
      </p:sp>
      <p:sp>
        <p:nvSpPr>
          <p:cNvPr id="8" name="Text 5"/>
          <p:cNvSpPr/>
          <p:nvPr/>
        </p:nvSpPr>
        <p:spPr>
          <a:xfrm>
            <a:off x="4926330" y="2630924"/>
            <a:ext cx="2780109" cy="347424"/>
          </a:xfrm>
          <a:prstGeom prst="rect">
            <a:avLst/>
          </a:prstGeom>
          <a:noFill/>
          <a:ln/>
        </p:spPr>
        <p:txBody>
          <a:bodyPr wrap="none" lIns="0" tIns="0" rIns="0" bIns="0" rtlCol="0" anchor="t"/>
          <a:lstStyle/>
          <a:p>
            <a:pPr marL="0" indent="0" algn="l">
              <a:lnSpc>
                <a:spcPts val="2700"/>
              </a:lnSpc>
              <a:buNone/>
            </a:pPr>
            <a:r>
              <a:rPr lang="en-US" sz="2150" dirty="0">
                <a:solidFill>
                  <a:srgbClr val="3B3535"/>
                </a:solidFill>
                <a:latin typeface="Red Hat Text" pitchFamily="34" charset="0"/>
                <a:ea typeface="Red Hat Text" pitchFamily="34" charset="-122"/>
                <a:cs typeface="Red Hat Text" pitchFamily="34" charset="-120"/>
              </a:rPr>
              <a:t>Unstructured Data</a:t>
            </a:r>
            <a:endParaRPr lang="en-US" sz="2150" dirty="0"/>
          </a:p>
        </p:txBody>
      </p:sp>
      <p:sp>
        <p:nvSpPr>
          <p:cNvPr id="9" name="Text 6"/>
          <p:cNvSpPr/>
          <p:nvPr/>
        </p:nvSpPr>
        <p:spPr>
          <a:xfrm>
            <a:off x="4926330" y="3120033"/>
            <a:ext cx="3154442" cy="1890713"/>
          </a:xfrm>
          <a:prstGeom prst="rect">
            <a:avLst/>
          </a:prstGeom>
          <a:noFill/>
          <a:ln/>
        </p:spPr>
        <p:txBody>
          <a:bodyPr wrap="square" lIns="0" tIns="0" rIns="0" bIns="0" rtlCol="0" anchor="t"/>
          <a:lstStyle/>
          <a:p>
            <a:pPr marL="0" indent="0" algn="l">
              <a:lnSpc>
                <a:spcPts val="2950"/>
              </a:lnSpc>
              <a:buNone/>
            </a:pPr>
            <a:r>
              <a:rPr lang="en-US" sz="1850" dirty="0">
                <a:solidFill>
                  <a:srgbClr val="3B3535"/>
                </a:solidFill>
                <a:latin typeface="Roboto Light" pitchFamily="34" charset="0"/>
                <a:ea typeface="Roboto Light" pitchFamily="34" charset="-122"/>
                <a:cs typeface="Roboto Light" pitchFamily="34" charset="-120"/>
              </a:rPr>
              <a:t>Text data is often noisy and requires significant preprocessing to remove irrelevant information and prepare it for analysis.</a:t>
            </a:r>
            <a:endParaRPr lang="en-US" sz="1850" dirty="0"/>
          </a:p>
        </p:txBody>
      </p:sp>
      <p:sp>
        <p:nvSpPr>
          <p:cNvPr id="10" name="Shape 7"/>
          <p:cNvSpPr/>
          <p:nvPr/>
        </p:nvSpPr>
        <p:spPr>
          <a:xfrm>
            <a:off x="827008" y="5483185"/>
            <a:ext cx="7489984" cy="2095976"/>
          </a:xfrm>
          <a:prstGeom prst="roundRect">
            <a:avLst>
              <a:gd name="adj" fmla="val 1691"/>
            </a:avLst>
          </a:prstGeom>
          <a:solidFill>
            <a:srgbClr val="F3E8E8"/>
          </a:solidFill>
          <a:ln/>
        </p:spPr>
      </p:sp>
      <p:sp>
        <p:nvSpPr>
          <p:cNvPr id="11" name="Text 8"/>
          <p:cNvSpPr/>
          <p:nvPr/>
        </p:nvSpPr>
        <p:spPr>
          <a:xfrm>
            <a:off x="1063228" y="5719405"/>
            <a:ext cx="3200519" cy="347424"/>
          </a:xfrm>
          <a:prstGeom prst="rect">
            <a:avLst/>
          </a:prstGeom>
          <a:noFill/>
          <a:ln/>
        </p:spPr>
        <p:txBody>
          <a:bodyPr wrap="none" lIns="0" tIns="0" rIns="0" bIns="0" rtlCol="0" anchor="t"/>
          <a:lstStyle/>
          <a:p>
            <a:pPr marL="0" indent="0" algn="l">
              <a:lnSpc>
                <a:spcPts val="2700"/>
              </a:lnSpc>
              <a:buNone/>
            </a:pPr>
            <a:r>
              <a:rPr lang="en-US" sz="2150" dirty="0">
                <a:solidFill>
                  <a:srgbClr val="3B3535"/>
                </a:solidFill>
                <a:latin typeface="Red Hat Text" pitchFamily="34" charset="0"/>
                <a:ea typeface="Red Hat Text" pitchFamily="34" charset="-122"/>
                <a:cs typeface="Red Hat Text" pitchFamily="34" charset="-120"/>
              </a:rPr>
              <a:t>Real-Time Analysis Needs</a:t>
            </a:r>
            <a:endParaRPr lang="en-US" sz="2150" dirty="0"/>
          </a:p>
        </p:txBody>
      </p:sp>
      <p:sp>
        <p:nvSpPr>
          <p:cNvPr id="12" name="Text 9"/>
          <p:cNvSpPr/>
          <p:nvPr/>
        </p:nvSpPr>
        <p:spPr>
          <a:xfrm>
            <a:off x="1063228" y="6208514"/>
            <a:ext cx="7017544" cy="1134427"/>
          </a:xfrm>
          <a:prstGeom prst="rect">
            <a:avLst/>
          </a:prstGeom>
          <a:noFill/>
          <a:ln/>
        </p:spPr>
        <p:txBody>
          <a:bodyPr wrap="square" lIns="0" tIns="0" rIns="0" bIns="0" rtlCol="0" anchor="t"/>
          <a:lstStyle/>
          <a:p>
            <a:pPr marL="0" indent="0" algn="l">
              <a:lnSpc>
                <a:spcPts val="2950"/>
              </a:lnSpc>
              <a:buNone/>
            </a:pPr>
            <a:r>
              <a:rPr lang="en-US" sz="1850" dirty="0">
                <a:solidFill>
                  <a:srgbClr val="3B3535"/>
                </a:solidFill>
                <a:latin typeface="Roboto Light" pitchFamily="34" charset="0"/>
                <a:ea typeface="Roboto Light" pitchFamily="34" charset="-122"/>
                <a:cs typeface="Roboto Light" pitchFamily="34" charset="-120"/>
              </a:rPr>
              <a:t>Existing systems do not effectively analyze sentiment in real time, particularly from dynamic sources like web pages that are constantly changing.</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1267"/>
          </a:xfrm>
          <a:prstGeom prst="rect">
            <a:avLst/>
          </a:prstGeom>
        </p:spPr>
      </p:pic>
      <p:sp>
        <p:nvSpPr>
          <p:cNvPr id="3" name="Text 0"/>
          <p:cNvSpPr/>
          <p:nvPr/>
        </p:nvSpPr>
        <p:spPr>
          <a:xfrm>
            <a:off x="694849" y="545902"/>
            <a:ext cx="7754303" cy="1168003"/>
          </a:xfrm>
          <a:prstGeom prst="rect">
            <a:avLst/>
          </a:prstGeom>
          <a:noFill/>
          <a:ln/>
        </p:spPr>
        <p:txBody>
          <a:bodyPr wrap="square" lIns="0" tIns="0" rIns="0" bIns="0" rtlCol="0" anchor="t"/>
          <a:lstStyle/>
          <a:p>
            <a:pPr marL="0" indent="0" algn="l">
              <a:lnSpc>
                <a:spcPts val="4550"/>
              </a:lnSpc>
              <a:buNone/>
            </a:pPr>
            <a:r>
              <a:rPr lang="en-US" sz="3650" dirty="0">
                <a:solidFill>
                  <a:srgbClr val="1F1E1E"/>
                </a:solidFill>
                <a:latin typeface="Red Hat Text" pitchFamily="34" charset="0"/>
                <a:ea typeface="Red Hat Text" pitchFamily="34" charset="-122"/>
                <a:cs typeface="Red Hat Text" pitchFamily="34" charset="-120"/>
              </a:rPr>
              <a:t>Objectives of the Sentiment Analysis System</a:t>
            </a:r>
            <a:endParaRPr lang="en-US" sz="3650" dirty="0"/>
          </a:p>
        </p:txBody>
      </p:sp>
      <p:sp>
        <p:nvSpPr>
          <p:cNvPr id="4" name="Shape 1"/>
          <p:cNvSpPr/>
          <p:nvPr/>
        </p:nvSpPr>
        <p:spPr>
          <a:xfrm>
            <a:off x="694849" y="2234922"/>
            <a:ext cx="446603" cy="446603"/>
          </a:xfrm>
          <a:prstGeom prst="roundRect">
            <a:avLst>
              <a:gd name="adj" fmla="val 6668"/>
            </a:avLst>
          </a:prstGeom>
          <a:solidFill>
            <a:srgbClr val="F3E8E8"/>
          </a:solidFill>
          <a:ln/>
        </p:spPr>
      </p:sp>
      <p:sp>
        <p:nvSpPr>
          <p:cNvPr id="5" name="Text 2"/>
          <p:cNvSpPr/>
          <p:nvPr/>
        </p:nvSpPr>
        <p:spPr>
          <a:xfrm>
            <a:off x="777954" y="2283023"/>
            <a:ext cx="280273" cy="350282"/>
          </a:xfrm>
          <a:prstGeom prst="rect">
            <a:avLst/>
          </a:prstGeom>
          <a:noFill/>
          <a:ln/>
        </p:spPr>
        <p:txBody>
          <a:bodyPr wrap="none" lIns="0" tIns="0" rIns="0" bIns="0" rtlCol="0" anchor="t"/>
          <a:lstStyle/>
          <a:p>
            <a:pPr marL="0" indent="0" algn="ctr">
              <a:lnSpc>
                <a:spcPts val="2200"/>
              </a:lnSpc>
              <a:buNone/>
            </a:pPr>
            <a:r>
              <a:rPr lang="en-US" sz="2200" dirty="0">
                <a:solidFill>
                  <a:srgbClr val="3B3535"/>
                </a:solidFill>
                <a:latin typeface="Red Hat Text" pitchFamily="34" charset="0"/>
                <a:ea typeface="Red Hat Text" pitchFamily="34" charset="-122"/>
                <a:cs typeface="Red Hat Text" pitchFamily="34" charset="-120"/>
              </a:rPr>
              <a:t>1</a:t>
            </a:r>
            <a:endParaRPr lang="en-US" sz="2200" dirty="0"/>
          </a:p>
        </p:txBody>
      </p:sp>
      <p:sp>
        <p:nvSpPr>
          <p:cNvPr id="6" name="Text 3"/>
          <p:cNvSpPr/>
          <p:nvPr/>
        </p:nvSpPr>
        <p:spPr>
          <a:xfrm>
            <a:off x="1339929" y="2234922"/>
            <a:ext cx="3099316" cy="291941"/>
          </a:xfrm>
          <a:prstGeom prst="rect">
            <a:avLst/>
          </a:prstGeom>
          <a:noFill/>
          <a:ln/>
        </p:spPr>
        <p:txBody>
          <a:bodyPr wrap="none" lIns="0" tIns="0" rIns="0" bIns="0" rtlCol="0" anchor="t"/>
          <a:lstStyle/>
          <a:p>
            <a:pPr marL="0" indent="0" algn="l">
              <a:lnSpc>
                <a:spcPts val="2250"/>
              </a:lnSpc>
              <a:buNone/>
            </a:pPr>
            <a:r>
              <a:rPr lang="en-US" sz="1800" dirty="0">
                <a:solidFill>
                  <a:srgbClr val="3B3535"/>
                </a:solidFill>
                <a:latin typeface="Red Hat Text" pitchFamily="34" charset="0"/>
                <a:ea typeface="Red Hat Text" pitchFamily="34" charset="-122"/>
                <a:cs typeface="Red Hat Text" pitchFamily="34" charset="-120"/>
              </a:rPr>
              <a:t>Real-Time Sentiment Analysis</a:t>
            </a:r>
            <a:endParaRPr lang="en-US" sz="1800" dirty="0"/>
          </a:p>
        </p:txBody>
      </p:sp>
      <p:sp>
        <p:nvSpPr>
          <p:cNvPr id="7" name="Text 4"/>
          <p:cNvSpPr/>
          <p:nvPr/>
        </p:nvSpPr>
        <p:spPr>
          <a:xfrm>
            <a:off x="1339929" y="2645926"/>
            <a:ext cx="7109222" cy="635318"/>
          </a:xfrm>
          <a:prstGeom prst="rect">
            <a:avLst/>
          </a:prstGeom>
          <a:noFill/>
          <a:ln/>
        </p:spPr>
        <p:txBody>
          <a:bodyPr wrap="square" lIns="0" tIns="0" rIns="0" bIns="0" rtlCol="0" anchor="t"/>
          <a:lstStyle/>
          <a:p>
            <a:pPr marL="0" indent="0" algn="l">
              <a:lnSpc>
                <a:spcPts val="2500"/>
              </a:lnSpc>
              <a:buNone/>
            </a:pPr>
            <a:r>
              <a:rPr lang="en-US" sz="1550" dirty="0">
                <a:solidFill>
                  <a:srgbClr val="3B3535"/>
                </a:solidFill>
                <a:latin typeface="Roboto Light" pitchFamily="34" charset="0"/>
                <a:ea typeface="Roboto Light" pitchFamily="34" charset="-122"/>
                <a:cs typeface="Roboto Light" pitchFamily="34" charset="-120"/>
              </a:rPr>
              <a:t>Perform real-time sentiment analysis on social media data, documents, and web content to provide immediate insights.</a:t>
            </a:r>
            <a:endParaRPr lang="en-US" sz="1550" dirty="0"/>
          </a:p>
        </p:txBody>
      </p:sp>
      <p:sp>
        <p:nvSpPr>
          <p:cNvPr id="8" name="Shape 5"/>
          <p:cNvSpPr/>
          <p:nvPr/>
        </p:nvSpPr>
        <p:spPr>
          <a:xfrm>
            <a:off x="694849" y="3702963"/>
            <a:ext cx="446603" cy="446603"/>
          </a:xfrm>
          <a:prstGeom prst="roundRect">
            <a:avLst>
              <a:gd name="adj" fmla="val 6668"/>
            </a:avLst>
          </a:prstGeom>
          <a:solidFill>
            <a:srgbClr val="F3E8E8"/>
          </a:solidFill>
          <a:ln/>
        </p:spPr>
      </p:sp>
      <p:sp>
        <p:nvSpPr>
          <p:cNvPr id="9" name="Text 6"/>
          <p:cNvSpPr/>
          <p:nvPr/>
        </p:nvSpPr>
        <p:spPr>
          <a:xfrm>
            <a:off x="777954" y="3751064"/>
            <a:ext cx="280273" cy="350282"/>
          </a:xfrm>
          <a:prstGeom prst="rect">
            <a:avLst/>
          </a:prstGeom>
          <a:noFill/>
          <a:ln/>
        </p:spPr>
        <p:txBody>
          <a:bodyPr wrap="none" lIns="0" tIns="0" rIns="0" bIns="0" rtlCol="0" anchor="t"/>
          <a:lstStyle/>
          <a:p>
            <a:pPr marL="0" indent="0" algn="ctr">
              <a:lnSpc>
                <a:spcPts val="2200"/>
              </a:lnSpc>
              <a:buNone/>
            </a:pPr>
            <a:r>
              <a:rPr lang="en-US" sz="2200" dirty="0">
                <a:solidFill>
                  <a:srgbClr val="3B3535"/>
                </a:solidFill>
                <a:latin typeface="Red Hat Text" pitchFamily="34" charset="0"/>
                <a:ea typeface="Red Hat Text" pitchFamily="34" charset="-122"/>
                <a:cs typeface="Red Hat Text" pitchFamily="34" charset="-120"/>
              </a:rPr>
              <a:t>2</a:t>
            </a:r>
            <a:endParaRPr lang="en-US" sz="2200" dirty="0"/>
          </a:p>
        </p:txBody>
      </p:sp>
      <p:sp>
        <p:nvSpPr>
          <p:cNvPr id="10" name="Text 7"/>
          <p:cNvSpPr/>
          <p:nvPr/>
        </p:nvSpPr>
        <p:spPr>
          <a:xfrm>
            <a:off x="1339929" y="3702963"/>
            <a:ext cx="2335649" cy="291941"/>
          </a:xfrm>
          <a:prstGeom prst="rect">
            <a:avLst/>
          </a:prstGeom>
          <a:noFill/>
          <a:ln/>
        </p:spPr>
        <p:txBody>
          <a:bodyPr wrap="none" lIns="0" tIns="0" rIns="0" bIns="0" rtlCol="0" anchor="t"/>
          <a:lstStyle/>
          <a:p>
            <a:pPr marL="0" indent="0" algn="l">
              <a:lnSpc>
                <a:spcPts val="2250"/>
              </a:lnSpc>
              <a:buNone/>
            </a:pPr>
            <a:r>
              <a:rPr lang="en-US" sz="1800" dirty="0">
                <a:solidFill>
                  <a:srgbClr val="3B3535"/>
                </a:solidFill>
                <a:latin typeface="Red Hat Text" pitchFamily="34" charset="0"/>
                <a:ea typeface="Red Hat Text" pitchFamily="34" charset="-122"/>
                <a:cs typeface="Red Hat Text" pitchFamily="34" charset="-120"/>
              </a:rPr>
              <a:t>Emotion Identification</a:t>
            </a:r>
            <a:endParaRPr lang="en-US" sz="1800" dirty="0"/>
          </a:p>
        </p:txBody>
      </p:sp>
      <p:sp>
        <p:nvSpPr>
          <p:cNvPr id="11" name="Text 8"/>
          <p:cNvSpPr/>
          <p:nvPr/>
        </p:nvSpPr>
        <p:spPr>
          <a:xfrm>
            <a:off x="1339929" y="4113967"/>
            <a:ext cx="7109222" cy="635318"/>
          </a:xfrm>
          <a:prstGeom prst="rect">
            <a:avLst/>
          </a:prstGeom>
          <a:noFill/>
          <a:ln/>
        </p:spPr>
        <p:txBody>
          <a:bodyPr wrap="square" lIns="0" tIns="0" rIns="0" bIns="0" rtlCol="0" anchor="t"/>
          <a:lstStyle/>
          <a:p>
            <a:pPr marL="0" indent="0" algn="l">
              <a:lnSpc>
                <a:spcPts val="2500"/>
              </a:lnSpc>
              <a:buNone/>
            </a:pPr>
            <a:r>
              <a:rPr lang="en-US" sz="1550" dirty="0">
                <a:solidFill>
                  <a:srgbClr val="3B3535"/>
                </a:solidFill>
                <a:latin typeface="Roboto Light" pitchFamily="34" charset="0"/>
                <a:ea typeface="Roboto Light" pitchFamily="34" charset="-122"/>
                <a:cs typeface="Roboto Light" pitchFamily="34" charset="-120"/>
              </a:rPr>
              <a:t>Identify and visualize emotions in the text, such as joy, sadness, and anger, to understand the emotional context.</a:t>
            </a:r>
            <a:endParaRPr lang="en-US" sz="1550" dirty="0"/>
          </a:p>
        </p:txBody>
      </p:sp>
      <p:sp>
        <p:nvSpPr>
          <p:cNvPr id="12" name="Shape 9"/>
          <p:cNvSpPr/>
          <p:nvPr/>
        </p:nvSpPr>
        <p:spPr>
          <a:xfrm>
            <a:off x="694849" y="5171003"/>
            <a:ext cx="446603" cy="446603"/>
          </a:xfrm>
          <a:prstGeom prst="roundRect">
            <a:avLst>
              <a:gd name="adj" fmla="val 6668"/>
            </a:avLst>
          </a:prstGeom>
          <a:solidFill>
            <a:srgbClr val="F3E8E8"/>
          </a:solidFill>
          <a:ln/>
        </p:spPr>
      </p:sp>
      <p:sp>
        <p:nvSpPr>
          <p:cNvPr id="13" name="Text 10"/>
          <p:cNvSpPr/>
          <p:nvPr/>
        </p:nvSpPr>
        <p:spPr>
          <a:xfrm>
            <a:off x="777954" y="5219105"/>
            <a:ext cx="280273" cy="350282"/>
          </a:xfrm>
          <a:prstGeom prst="rect">
            <a:avLst/>
          </a:prstGeom>
          <a:noFill/>
          <a:ln/>
        </p:spPr>
        <p:txBody>
          <a:bodyPr wrap="none" lIns="0" tIns="0" rIns="0" bIns="0" rtlCol="0" anchor="t"/>
          <a:lstStyle/>
          <a:p>
            <a:pPr marL="0" indent="0" algn="ctr">
              <a:lnSpc>
                <a:spcPts val="2200"/>
              </a:lnSpc>
              <a:buNone/>
            </a:pPr>
            <a:r>
              <a:rPr lang="en-US" sz="2200" dirty="0">
                <a:solidFill>
                  <a:srgbClr val="3B3535"/>
                </a:solidFill>
                <a:latin typeface="Red Hat Text" pitchFamily="34" charset="0"/>
                <a:ea typeface="Red Hat Text" pitchFamily="34" charset="-122"/>
                <a:cs typeface="Red Hat Text" pitchFamily="34" charset="-120"/>
              </a:rPr>
              <a:t>3</a:t>
            </a:r>
            <a:endParaRPr lang="en-US" sz="2200" dirty="0"/>
          </a:p>
        </p:txBody>
      </p:sp>
      <p:sp>
        <p:nvSpPr>
          <p:cNvPr id="14" name="Text 11"/>
          <p:cNvSpPr/>
          <p:nvPr/>
        </p:nvSpPr>
        <p:spPr>
          <a:xfrm>
            <a:off x="1339929" y="5171003"/>
            <a:ext cx="2335649" cy="291941"/>
          </a:xfrm>
          <a:prstGeom prst="rect">
            <a:avLst/>
          </a:prstGeom>
          <a:noFill/>
          <a:ln/>
        </p:spPr>
        <p:txBody>
          <a:bodyPr wrap="none" lIns="0" tIns="0" rIns="0" bIns="0" rtlCol="0" anchor="t"/>
          <a:lstStyle/>
          <a:p>
            <a:pPr marL="0" indent="0" algn="l">
              <a:lnSpc>
                <a:spcPts val="2250"/>
              </a:lnSpc>
              <a:buNone/>
            </a:pPr>
            <a:r>
              <a:rPr lang="en-US" sz="1800" dirty="0">
                <a:solidFill>
                  <a:srgbClr val="3B3535"/>
                </a:solidFill>
                <a:latin typeface="Red Hat Text" pitchFamily="34" charset="0"/>
                <a:ea typeface="Red Hat Text" pitchFamily="34" charset="-122"/>
                <a:cs typeface="Red Hat Text" pitchFamily="34" charset="-120"/>
              </a:rPr>
              <a:t>Multi-Format Support</a:t>
            </a:r>
            <a:endParaRPr lang="en-US" sz="1800" dirty="0"/>
          </a:p>
        </p:txBody>
      </p:sp>
      <p:sp>
        <p:nvSpPr>
          <p:cNvPr id="15" name="Text 12"/>
          <p:cNvSpPr/>
          <p:nvPr/>
        </p:nvSpPr>
        <p:spPr>
          <a:xfrm>
            <a:off x="1339929" y="5582007"/>
            <a:ext cx="7109222" cy="635318"/>
          </a:xfrm>
          <a:prstGeom prst="rect">
            <a:avLst/>
          </a:prstGeom>
          <a:noFill/>
          <a:ln/>
        </p:spPr>
        <p:txBody>
          <a:bodyPr wrap="square" lIns="0" tIns="0" rIns="0" bIns="0" rtlCol="0" anchor="t"/>
          <a:lstStyle/>
          <a:p>
            <a:pPr marL="0" indent="0" algn="l">
              <a:lnSpc>
                <a:spcPts val="2500"/>
              </a:lnSpc>
              <a:buNone/>
            </a:pPr>
            <a:r>
              <a:rPr lang="en-US" sz="1550" dirty="0">
                <a:solidFill>
                  <a:srgbClr val="3B3535"/>
                </a:solidFill>
                <a:latin typeface="Roboto Light" pitchFamily="34" charset="0"/>
                <a:ea typeface="Roboto Light" pitchFamily="34" charset="-122"/>
                <a:cs typeface="Roboto Light" pitchFamily="34" charset="-120"/>
              </a:rPr>
              <a:t>Develop a system that supports multi-format inputs, including social media chat files, documents, and web scraping data.</a:t>
            </a:r>
            <a:endParaRPr lang="en-US" sz="1550" dirty="0"/>
          </a:p>
        </p:txBody>
      </p:sp>
      <p:sp>
        <p:nvSpPr>
          <p:cNvPr id="16" name="Shape 13"/>
          <p:cNvSpPr/>
          <p:nvPr/>
        </p:nvSpPr>
        <p:spPr>
          <a:xfrm>
            <a:off x="694849" y="6639044"/>
            <a:ext cx="446603" cy="446603"/>
          </a:xfrm>
          <a:prstGeom prst="roundRect">
            <a:avLst>
              <a:gd name="adj" fmla="val 6668"/>
            </a:avLst>
          </a:prstGeom>
          <a:solidFill>
            <a:srgbClr val="F3E8E8"/>
          </a:solidFill>
          <a:ln/>
        </p:spPr>
      </p:sp>
      <p:sp>
        <p:nvSpPr>
          <p:cNvPr id="17" name="Text 14"/>
          <p:cNvSpPr/>
          <p:nvPr/>
        </p:nvSpPr>
        <p:spPr>
          <a:xfrm>
            <a:off x="777954" y="6687145"/>
            <a:ext cx="280273" cy="350282"/>
          </a:xfrm>
          <a:prstGeom prst="rect">
            <a:avLst/>
          </a:prstGeom>
          <a:noFill/>
          <a:ln/>
        </p:spPr>
        <p:txBody>
          <a:bodyPr wrap="none" lIns="0" tIns="0" rIns="0" bIns="0" rtlCol="0" anchor="t"/>
          <a:lstStyle/>
          <a:p>
            <a:pPr marL="0" indent="0" algn="ctr">
              <a:lnSpc>
                <a:spcPts val="2200"/>
              </a:lnSpc>
              <a:buNone/>
            </a:pPr>
            <a:r>
              <a:rPr lang="en-US" sz="2200" dirty="0">
                <a:solidFill>
                  <a:srgbClr val="3B3535"/>
                </a:solidFill>
                <a:latin typeface="Red Hat Text" pitchFamily="34" charset="0"/>
                <a:ea typeface="Red Hat Text" pitchFamily="34" charset="-122"/>
                <a:cs typeface="Red Hat Text" pitchFamily="34" charset="-120"/>
              </a:rPr>
              <a:t>4</a:t>
            </a:r>
            <a:endParaRPr lang="en-US" sz="2200" dirty="0"/>
          </a:p>
        </p:txBody>
      </p:sp>
      <p:sp>
        <p:nvSpPr>
          <p:cNvPr id="18" name="Text 15"/>
          <p:cNvSpPr/>
          <p:nvPr/>
        </p:nvSpPr>
        <p:spPr>
          <a:xfrm>
            <a:off x="1339929" y="6639044"/>
            <a:ext cx="2335649" cy="291941"/>
          </a:xfrm>
          <a:prstGeom prst="rect">
            <a:avLst/>
          </a:prstGeom>
          <a:noFill/>
          <a:ln/>
        </p:spPr>
        <p:txBody>
          <a:bodyPr wrap="none" lIns="0" tIns="0" rIns="0" bIns="0" rtlCol="0" anchor="t"/>
          <a:lstStyle/>
          <a:p>
            <a:pPr marL="0" indent="0" algn="l">
              <a:lnSpc>
                <a:spcPts val="2250"/>
              </a:lnSpc>
              <a:buNone/>
            </a:pPr>
            <a:r>
              <a:rPr lang="en-US" sz="1800" dirty="0">
                <a:solidFill>
                  <a:srgbClr val="3B3535"/>
                </a:solidFill>
                <a:latin typeface="Red Hat Text" pitchFamily="34" charset="0"/>
                <a:ea typeface="Red Hat Text" pitchFamily="34" charset="-122"/>
                <a:cs typeface="Red Hat Text" pitchFamily="34" charset="-120"/>
              </a:rPr>
              <a:t>Visual Insights</a:t>
            </a:r>
            <a:endParaRPr lang="en-US" sz="1800" dirty="0"/>
          </a:p>
        </p:txBody>
      </p:sp>
      <p:sp>
        <p:nvSpPr>
          <p:cNvPr id="19" name="Text 16"/>
          <p:cNvSpPr/>
          <p:nvPr/>
        </p:nvSpPr>
        <p:spPr>
          <a:xfrm>
            <a:off x="1339929" y="7050048"/>
            <a:ext cx="7109222" cy="635318"/>
          </a:xfrm>
          <a:prstGeom prst="rect">
            <a:avLst/>
          </a:prstGeom>
          <a:noFill/>
          <a:ln/>
        </p:spPr>
        <p:txBody>
          <a:bodyPr wrap="square" lIns="0" tIns="0" rIns="0" bIns="0" rtlCol="0" anchor="t"/>
          <a:lstStyle/>
          <a:p>
            <a:pPr marL="0" indent="0" algn="l">
              <a:lnSpc>
                <a:spcPts val="2500"/>
              </a:lnSpc>
              <a:buNone/>
            </a:pPr>
            <a:r>
              <a:rPr lang="en-US" sz="1550" dirty="0">
                <a:solidFill>
                  <a:srgbClr val="3B3535"/>
                </a:solidFill>
                <a:latin typeface="Roboto Light" pitchFamily="34" charset="0"/>
                <a:ea typeface="Roboto Light" pitchFamily="34" charset="-122"/>
                <a:cs typeface="Roboto Light" pitchFamily="34" charset="-120"/>
              </a:rPr>
              <a:t>Provide visual insights through charts, graphs, and word clouds to make sentiment analysis results more accessible and understandable.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2294215"/>
            <a:ext cx="7744658" cy="704017"/>
          </a:xfrm>
          <a:prstGeom prst="rect">
            <a:avLst/>
          </a:prstGeom>
          <a:noFill/>
          <a:ln/>
        </p:spPr>
        <p:txBody>
          <a:bodyPr wrap="none" lIns="0" tIns="0" rIns="0" bIns="0" rtlCol="0" anchor="t"/>
          <a:lstStyle/>
          <a:p>
            <a:pPr marL="0" indent="0" algn="l">
              <a:lnSpc>
                <a:spcPts val="5500"/>
              </a:lnSpc>
              <a:buNone/>
            </a:pPr>
            <a:r>
              <a:rPr lang="en-US" sz="4400" dirty="0">
                <a:solidFill>
                  <a:srgbClr val="1F1E1E"/>
                </a:solidFill>
                <a:latin typeface="Red Hat Text" pitchFamily="34" charset="0"/>
                <a:ea typeface="Red Hat Text" pitchFamily="34" charset="-122"/>
                <a:cs typeface="Red Hat Text" pitchFamily="34" charset="-120"/>
              </a:rPr>
              <a:t>Sentiment Analysis Techniques</a:t>
            </a:r>
            <a:endParaRPr lang="en-US" sz="4400" dirty="0"/>
          </a:p>
        </p:txBody>
      </p:sp>
      <p:sp>
        <p:nvSpPr>
          <p:cNvPr id="3" name="Text 1"/>
          <p:cNvSpPr/>
          <p:nvPr/>
        </p:nvSpPr>
        <p:spPr>
          <a:xfrm>
            <a:off x="837724" y="3596521"/>
            <a:ext cx="5067776" cy="351949"/>
          </a:xfrm>
          <a:prstGeom prst="rect">
            <a:avLst/>
          </a:prstGeom>
          <a:noFill/>
          <a:ln/>
        </p:spPr>
        <p:txBody>
          <a:bodyPr wrap="none" lIns="0" tIns="0" rIns="0" bIns="0" rtlCol="0" anchor="t"/>
          <a:lstStyle/>
          <a:p>
            <a:pPr marL="0" indent="0" algn="l">
              <a:lnSpc>
                <a:spcPts val="2750"/>
              </a:lnSpc>
              <a:buNone/>
            </a:pPr>
            <a:r>
              <a:rPr lang="en-US" sz="2200" dirty="0">
                <a:solidFill>
                  <a:srgbClr val="1F1E1E"/>
                </a:solidFill>
                <a:latin typeface="Red Hat Text" pitchFamily="34" charset="0"/>
                <a:ea typeface="Red Hat Text" pitchFamily="34" charset="-122"/>
                <a:cs typeface="Red Hat Text" pitchFamily="34" charset="-120"/>
              </a:rPr>
              <a:t>Naive Bayes for Sentiment Classification</a:t>
            </a:r>
            <a:endParaRPr lang="en-US" sz="2200" dirty="0"/>
          </a:p>
        </p:txBody>
      </p:sp>
      <p:sp>
        <p:nvSpPr>
          <p:cNvPr id="4" name="Text 2"/>
          <p:cNvSpPr/>
          <p:nvPr/>
        </p:nvSpPr>
        <p:spPr>
          <a:xfrm>
            <a:off x="837724" y="4187785"/>
            <a:ext cx="6185535" cy="1532096"/>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The Naive Bayes algorithm is used for initial sentiment classification, leveraging the assumption that words in a document are independent. It calculates the probability of a document being classified as positive or negative.</a:t>
            </a:r>
            <a:endParaRPr lang="en-US" sz="1850" dirty="0"/>
          </a:p>
        </p:txBody>
      </p:sp>
      <p:sp>
        <p:nvSpPr>
          <p:cNvPr id="5" name="Text 3"/>
          <p:cNvSpPr/>
          <p:nvPr/>
        </p:nvSpPr>
        <p:spPr>
          <a:xfrm>
            <a:off x="7614761" y="3596521"/>
            <a:ext cx="3576042" cy="351949"/>
          </a:xfrm>
          <a:prstGeom prst="rect">
            <a:avLst/>
          </a:prstGeom>
          <a:noFill/>
          <a:ln/>
        </p:spPr>
        <p:txBody>
          <a:bodyPr wrap="none" lIns="0" tIns="0" rIns="0" bIns="0" rtlCol="0" anchor="t"/>
          <a:lstStyle/>
          <a:p>
            <a:pPr marL="0" indent="0" algn="l">
              <a:lnSpc>
                <a:spcPts val="2750"/>
              </a:lnSpc>
              <a:buNone/>
            </a:pPr>
            <a:r>
              <a:rPr lang="en-US" sz="2200" dirty="0">
                <a:solidFill>
                  <a:srgbClr val="1F1E1E"/>
                </a:solidFill>
                <a:latin typeface="Red Hat Text" pitchFamily="34" charset="0"/>
                <a:ea typeface="Red Hat Text" pitchFamily="34" charset="-122"/>
                <a:cs typeface="Red Hat Text" pitchFamily="34" charset="-120"/>
              </a:rPr>
              <a:t>BERT for Emotion Detection</a:t>
            </a:r>
            <a:endParaRPr lang="en-US" sz="2200" dirty="0"/>
          </a:p>
        </p:txBody>
      </p:sp>
      <p:sp>
        <p:nvSpPr>
          <p:cNvPr id="6" name="Text 4"/>
          <p:cNvSpPr/>
          <p:nvPr/>
        </p:nvSpPr>
        <p:spPr>
          <a:xfrm>
            <a:off x="7614761" y="4187785"/>
            <a:ext cx="6185535" cy="1532096"/>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BERT (Bidirectional Encoder Representations from Transformers) captures contextual information by reading text bidirectionally. Fine-tuned BERT models are used to detect complex emotions like joy, anger, sadness, etc.</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972860"/>
            <a:ext cx="6264116" cy="704017"/>
          </a:xfrm>
          <a:prstGeom prst="rect">
            <a:avLst/>
          </a:prstGeom>
          <a:noFill/>
          <a:ln/>
        </p:spPr>
        <p:txBody>
          <a:bodyPr wrap="none" lIns="0" tIns="0" rIns="0" bIns="0" rtlCol="0" anchor="t"/>
          <a:lstStyle/>
          <a:p>
            <a:pPr marL="0" indent="0" algn="l">
              <a:lnSpc>
                <a:spcPts val="5500"/>
              </a:lnSpc>
              <a:buNone/>
            </a:pPr>
            <a:r>
              <a:rPr lang="en-US" sz="4400" dirty="0">
                <a:solidFill>
                  <a:srgbClr val="1F1E1E"/>
                </a:solidFill>
                <a:latin typeface="Red Hat Text" pitchFamily="34" charset="0"/>
                <a:ea typeface="Red Hat Text" pitchFamily="34" charset="-122"/>
                <a:cs typeface="Red Hat Text" pitchFamily="34" charset="-120"/>
              </a:rPr>
              <a:t>Visualization and Insights</a:t>
            </a:r>
            <a:endParaRPr lang="en-US" sz="4400" dirty="0"/>
          </a:p>
        </p:txBody>
      </p:sp>
      <p:pic>
        <p:nvPicPr>
          <p:cNvPr id="4" name="Image 1" descr="preencoded.png"/>
          <p:cNvPicPr>
            <a:picLocks noChangeAspect="1"/>
          </p:cNvPicPr>
          <p:nvPr/>
        </p:nvPicPr>
        <p:blipFill>
          <a:blip r:embed="rId4"/>
          <a:stretch>
            <a:fillRect/>
          </a:stretch>
        </p:blipFill>
        <p:spPr>
          <a:xfrm>
            <a:off x="837724" y="2077641"/>
            <a:ext cx="598408" cy="598408"/>
          </a:xfrm>
          <a:prstGeom prst="rect">
            <a:avLst/>
          </a:prstGeom>
        </p:spPr>
      </p:pic>
      <p:sp>
        <p:nvSpPr>
          <p:cNvPr id="5" name="Text 1"/>
          <p:cNvSpPr/>
          <p:nvPr/>
        </p:nvSpPr>
        <p:spPr>
          <a:xfrm>
            <a:off x="1675448" y="203585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B3535"/>
                </a:solidFill>
                <a:latin typeface="Red Hat Text" pitchFamily="34" charset="0"/>
                <a:ea typeface="Red Hat Text" pitchFamily="34" charset="-122"/>
                <a:cs typeface="Red Hat Text" pitchFamily="34" charset="-120"/>
              </a:rPr>
              <a:t>Word Cloud</a:t>
            </a:r>
            <a:endParaRPr lang="en-US" sz="2200" dirty="0"/>
          </a:p>
        </p:txBody>
      </p:sp>
      <p:sp>
        <p:nvSpPr>
          <p:cNvPr id="6" name="Text 2"/>
          <p:cNvSpPr/>
          <p:nvPr/>
        </p:nvSpPr>
        <p:spPr>
          <a:xfrm>
            <a:off x="1675448" y="2531388"/>
            <a:ext cx="6630829" cy="766048"/>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Highlights the most frequent words used in the text, providing insights into topics of interest and common themes.</a:t>
            </a:r>
            <a:endParaRPr lang="en-US" sz="1850" dirty="0"/>
          </a:p>
        </p:txBody>
      </p:sp>
      <p:pic>
        <p:nvPicPr>
          <p:cNvPr id="7" name="Image 2" descr="preencoded.png"/>
          <p:cNvPicPr>
            <a:picLocks noChangeAspect="1"/>
          </p:cNvPicPr>
          <p:nvPr/>
        </p:nvPicPr>
        <p:blipFill>
          <a:blip r:embed="rId5"/>
          <a:stretch>
            <a:fillRect/>
          </a:stretch>
        </p:blipFill>
        <p:spPr>
          <a:xfrm>
            <a:off x="837724" y="4057293"/>
            <a:ext cx="598408" cy="598408"/>
          </a:xfrm>
          <a:prstGeom prst="rect">
            <a:avLst/>
          </a:prstGeom>
        </p:spPr>
      </p:pic>
      <p:sp>
        <p:nvSpPr>
          <p:cNvPr id="8" name="Text 3"/>
          <p:cNvSpPr/>
          <p:nvPr/>
        </p:nvSpPr>
        <p:spPr>
          <a:xfrm>
            <a:off x="1675448" y="4015502"/>
            <a:ext cx="3690937" cy="351949"/>
          </a:xfrm>
          <a:prstGeom prst="rect">
            <a:avLst/>
          </a:prstGeom>
          <a:noFill/>
          <a:ln/>
        </p:spPr>
        <p:txBody>
          <a:bodyPr wrap="none" lIns="0" tIns="0" rIns="0" bIns="0" rtlCol="0" anchor="t"/>
          <a:lstStyle/>
          <a:p>
            <a:pPr marL="0" indent="0" algn="l">
              <a:lnSpc>
                <a:spcPts val="2750"/>
              </a:lnSpc>
              <a:buNone/>
            </a:pPr>
            <a:r>
              <a:rPr lang="en-US" sz="2200" dirty="0">
                <a:solidFill>
                  <a:srgbClr val="3B3535"/>
                </a:solidFill>
                <a:latin typeface="Red Hat Text" pitchFamily="34" charset="0"/>
                <a:ea typeface="Red Hat Text" pitchFamily="34" charset="-122"/>
                <a:cs typeface="Red Hat Text" pitchFamily="34" charset="-120"/>
              </a:rPr>
              <a:t>Sentiment Distribution Graph</a:t>
            </a:r>
            <a:endParaRPr lang="en-US" sz="2200" dirty="0"/>
          </a:p>
        </p:txBody>
      </p:sp>
      <p:sp>
        <p:nvSpPr>
          <p:cNvPr id="9" name="Text 4"/>
          <p:cNvSpPr/>
          <p:nvPr/>
        </p:nvSpPr>
        <p:spPr>
          <a:xfrm>
            <a:off x="1675448" y="4511040"/>
            <a:ext cx="6630829" cy="766048"/>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Displays the proportion of positive, negative, and neutral sentiments, giving an overview of the overall sentiment.</a:t>
            </a:r>
            <a:endParaRPr lang="en-US" sz="1850" dirty="0"/>
          </a:p>
        </p:txBody>
      </p:sp>
      <p:pic>
        <p:nvPicPr>
          <p:cNvPr id="10" name="Image 3" descr="preencoded.png"/>
          <p:cNvPicPr>
            <a:picLocks noChangeAspect="1"/>
          </p:cNvPicPr>
          <p:nvPr/>
        </p:nvPicPr>
        <p:blipFill>
          <a:blip r:embed="rId6"/>
          <a:stretch>
            <a:fillRect/>
          </a:stretch>
        </p:blipFill>
        <p:spPr>
          <a:xfrm>
            <a:off x="837724" y="6036945"/>
            <a:ext cx="598408" cy="598408"/>
          </a:xfrm>
          <a:prstGeom prst="rect">
            <a:avLst/>
          </a:prstGeom>
        </p:spPr>
      </p:pic>
      <p:sp>
        <p:nvSpPr>
          <p:cNvPr id="11" name="Text 5"/>
          <p:cNvSpPr/>
          <p:nvPr/>
        </p:nvSpPr>
        <p:spPr>
          <a:xfrm>
            <a:off x="1675448" y="599515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B3535"/>
                </a:solidFill>
                <a:latin typeface="Red Hat Text" pitchFamily="34" charset="0"/>
                <a:ea typeface="Red Hat Text" pitchFamily="34" charset="-122"/>
                <a:cs typeface="Red Hat Text" pitchFamily="34" charset="-120"/>
              </a:rPr>
              <a:t>Emotion Radar Chart</a:t>
            </a:r>
            <a:endParaRPr lang="en-US" sz="2200" dirty="0"/>
          </a:p>
        </p:txBody>
      </p:sp>
      <p:sp>
        <p:nvSpPr>
          <p:cNvPr id="12" name="Text 6"/>
          <p:cNvSpPr/>
          <p:nvPr/>
        </p:nvSpPr>
        <p:spPr>
          <a:xfrm>
            <a:off x="1675448" y="6490692"/>
            <a:ext cx="6630829" cy="766048"/>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Depicts the strength of various emotions detected in the text, providing a detailed emotional profile.</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7926" y="818793"/>
            <a:ext cx="6140887" cy="656749"/>
          </a:xfrm>
          <a:prstGeom prst="rect">
            <a:avLst/>
          </a:prstGeom>
          <a:noFill/>
          <a:ln/>
        </p:spPr>
        <p:txBody>
          <a:bodyPr wrap="none" lIns="0" tIns="0" rIns="0" bIns="0" rtlCol="0" anchor="t"/>
          <a:lstStyle/>
          <a:p>
            <a:pPr marL="0" indent="0" algn="l">
              <a:lnSpc>
                <a:spcPts val="5150"/>
              </a:lnSpc>
              <a:buNone/>
            </a:pPr>
            <a:r>
              <a:rPr lang="en-US" sz="4100" dirty="0">
                <a:solidFill>
                  <a:srgbClr val="1F1E1E"/>
                </a:solidFill>
                <a:latin typeface="Red Hat Text" pitchFamily="34" charset="0"/>
                <a:ea typeface="Red Hat Text" pitchFamily="34" charset="-122"/>
                <a:cs typeface="Red Hat Text" pitchFamily="34" charset="-120"/>
              </a:rPr>
              <a:t>Advantages of the System</a:t>
            </a:r>
            <a:endParaRPr lang="en-US" sz="4100" dirty="0"/>
          </a:p>
        </p:txBody>
      </p:sp>
      <p:sp>
        <p:nvSpPr>
          <p:cNvPr id="4" name="Shape 1"/>
          <p:cNvSpPr/>
          <p:nvPr/>
        </p:nvSpPr>
        <p:spPr>
          <a:xfrm>
            <a:off x="6267926" y="1810464"/>
            <a:ext cx="167402" cy="1176814"/>
          </a:xfrm>
          <a:prstGeom prst="roundRect">
            <a:avLst>
              <a:gd name="adj" fmla="val 20009"/>
            </a:avLst>
          </a:prstGeom>
          <a:solidFill>
            <a:srgbClr val="F3E8E8"/>
          </a:solidFill>
          <a:ln/>
        </p:spPr>
      </p:sp>
      <p:sp>
        <p:nvSpPr>
          <p:cNvPr id="5" name="Text 2"/>
          <p:cNvSpPr/>
          <p:nvPr/>
        </p:nvSpPr>
        <p:spPr>
          <a:xfrm>
            <a:off x="6770251" y="1810464"/>
            <a:ext cx="2626995" cy="328255"/>
          </a:xfrm>
          <a:prstGeom prst="rect">
            <a:avLst/>
          </a:prstGeom>
          <a:noFill/>
          <a:ln/>
        </p:spPr>
        <p:txBody>
          <a:bodyPr wrap="none" lIns="0" tIns="0" rIns="0" bIns="0" rtlCol="0" anchor="t"/>
          <a:lstStyle/>
          <a:p>
            <a:pPr marL="0" indent="0" algn="l">
              <a:lnSpc>
                <a:spcPts val="2550"/>
              </a:lnSpc>
              <a:buNone/>
            </a:pPr>
            <a:r>
              <a:rPr lang="en-US" sz="2050" dirty="0">
                <a:solidFill>
                  <a:srgbClr val="3B3535"/>
                </a:solidFill>
                <a:latin typeface="Red Hat Text" pitchFamily="34" charset="0"/>
                <a:ea typeface="Red Hat Text" pitchFamily="34" charset="-122"/>
                <a:cs typeface="Red Hat Text" pitchFamily="34" charset="-120"/>
              </a:rPr>
              <a:t>Multi-format Support</a:t>
            </a:r>
            <a:endParaRPr lang="en-US" sz="2050" dirty="0"/>
          </a:p>
        </p:txBody>
      </p:sp>
      <p:sp>
        <p:nvSpPr>
          <p:cNvPr id="6" name="Text 3"/>
          <p:cNvSpPr/>
          <p:nvPr/>
        </p:nvSpPr>
        <p:spPr>
          <a:xfrm>
            <a:off x="6770251" y="2272665"/>
            <a:ext cx="7078623" cy="714613"/>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The system can handle social media chats, documents, and web pages, providing comprehensive analysis across different sources.</a:t>
            </a:r>
            <a:endParaRPr lang="en-US" sz="1750" dirty="0"/>
          </a:p>
        </p:txBody>
      </p:sp>
      <p:sp>
        <p:nvSpPr>
          <p:cNvPr id="7" name="Shape 4"/>
          <p:cNvSpPr/>
          <p:nvPr/>
        </p:nvSpPr>
        <p:spPr>
          <a:xfrm>
            <a:off x="6602849" y="3210520"/>
            <a:ext cx="167402" cy="1176814"/>
          </a:xfrm>
          <a:prstGeom prst="roundRect">
            <a:avLst>
              <a:gd name="adj" fmla="val 20009"/>
            </a:avLst>
          </a:prstGeom>
          <a:solidFill>
            <a:srgbClr val="F3E8E8"/>
          </a:solidFill>
          <a:ln/>
        </p:spPr>
      </p:sp>
      <p:sp>
        <p:nvSpPr>
          <p:cNvPr id="8" name="Text 5"/>
          <p:cNvSpPr/>
          <p:nvPr/>
        </p:nvSpPr>
        <p:spPr>
          <a:xfrm>
            <a:off x="7105174" y="3210520"/>
            <a:ext cx="3430310" cy="328255"/>
          </a:xfrm>
          <a:prstGeom prst="rect">
            <a:avLst/>
          </a:prstGeom>
          <a:noFill/>
          <a:ln/>
        </p:spPr>
        <p:txBody>
          <a:bodyPr wrap="none" lIns="0" tIns="0" rIns="0" bIns="0" rtlCol="0" anchor="t"/>
          <a:lstStyle/>
          <a:p>
            <a:pPr marL="0" indent="0" algn="l">
              <a:lnSpc>
                <a:spcPts val="2550"/>
              </a:lnSpc>
              <a:buNone/>
            </a:pPr>
            <a:r>
              <a:rPr lang="en-US" sz="2050" dirty="0">
                <a:solidFill>
                  <a:srgbClr val="3B3535"/>
                </a:solidFill>
                <a:latin typeface="Red Hat Text" pitchFamily="34" charset="0"/>
                <a:ea typeface="Red Hat Text" pitchFamily="34" charset="-122"/>
                <a:cs typeface="Red Hat Text" pitchFamily="34" charset="-120"/>
              </a:rPr>
              <a:t>Real-time Sentiment Analysis</a:t>
            </a:r>
            <a:endParaRPr lang="en-US" sz="2050" dirty="0"/>
          </a:p>
        </p:txBody>
      </p:sp>
      <p:sp>
        <p:nvSpPr>
          <p:cNvPr id="9" name="Text 6"/>
          <p:cNvSpPr/>
          <p:nvPr/>
        </p:nvSpPr>
        <p:spPr>
          <a:xfrm>
            <a:off x="7105174" y="3672721"/>
            <a:ext cx="6743700" cy="714613"/>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Web scraping allows real-time sentiment tracking on dynamic content, providing up-to-date insights.</a:t>
            </a:r>
            <a:endParaRPr lang="en-US" sz="1750" dirty="0"/>
          </a:p>
        </p:txBody>
      </p:sp>
      <p:sp>
        <p:nvSpPr>
          <p:cNvPr id="10" name="Shape 7"/>
          <p:cNvSpPr/>
          <p:nvPr/>
        </p:nvSpPr>
        <p:spPr>
          <a:xfrm>
            <a:off x="6937772" y="4610576"/>
            <a:ext cx="167402" cy="1176814"/>
          </a:xfrm>
          <a:prstGeom prst="roundRect">
            <a:avLst>
              <a:gd name="adj" fmla="val 20009"/>
            </a:avLst>
          </a:prstGeom>
          <a:solidFill>
            <a:srgbClr val="F3E8E8"/>
          </a:solidFill>
          <a:ln/>
        </p:spPr>
      </p:sp>
      <p:sp>
        <p:nvSpPr>
          <p:cNvPr id="11" name="Text 8"/>
          <p:cNvSpPr/>
          <p:nvPr/>
        </p:nvSpPr>
        <p:spPr>
          <a:xfrm>
            <a:off x="7440097" y="4610576"/>
            <a:ext cx="2626995" cy="328255"/>
          </a:xfrm>
          <a:prstGeom prst="rect">
            <a:avLst/>
          </a:prstGeom>
          <a:noFill/>
          <a:ln/>
        </p:spPr>
        <p:txBody>
          <a:bodyPr wrap="none" lIns="0" tIns="0" rIns="0" bIns="0" rtlCol="0" anchor="t"/>
          <a:lstStyle/>
          <a:p>
            <a:pPr marL="0" indent="0" algn="l">
              <a:lnSpc>
                <a:spcPts val="2550"/>
              </a:lnSpc>
              <a:buNone/>
            </a:pPr>
            <a:r>
              <a:rPr lang="en-US" sz="2050" dirty="0">
                <a:solidFill>
                  <a:srgbClr val="3B3535"/>
                </a:solidFill>
                <a:latin typeface="Red Hat Text" pitchFamily="34" charset="0"/>
                <a:ea typeface="Red Hat Text" pitchFamily="34" charset="-122"/>
                <a:cs typeface="Red Hat Text" pitchFamily="34" charset="-120"/>
              </a:rPr>
              <a:t>Advanced Models</a:t>
            </a:r>
            <a:endParaRPr lang="en-US" sz="2050" dirty="0"/>
          </a:p>
        </p:txBody>
      </p:sp>
      <p:sp>
        <p:nvSpPr>
          <p:cNvPr id="12" name="Text 9"/>
          <p:cNvSpPr/>
          <p:nvPr/>
        </p:nvSpPr>
        <p:spPr>
          <a:xfrm>
            <a:off x="7440097" y="5072777"/>
            <a:ext cx="6408777" cy="714613"/>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BERT's contextual understanding enhances the accuracy of emotion detection, capturing nuanced emotional expressions.</a:t>
            </a:r>
            <a:endParaRPr lang="en-US" sz="1750" dirty="0"/>
          </a:p>
        </p:txBody>
      </p:sp>
      <p:sp>
        <p:nvSpPr>
          <p:cNvPr id="13" name="Shape 10"/>
          <p:cNvSpPr/>
          <p:nvPr/>
        </p:nvSpPr>
        <p:spPr>
          <a:xfrm>
            <a:off x="7272695" y="6010632"/>
            <a:ext cx="167402" cy="1176814"/>
          </a:xfrm>
          <a:prstGeom prst="roundRect">
            <a:avLst>
              <a:gd name="adj" fmla="val 20009"/>
            </a:avLst>
          </a:prstGeom>
          <a:solidFill>
            <a:srgbClr val="F3E8E8"/>
          </a:solidFill>
          <a:ln/>
        </p:spPr>
      </p:sp>
      <p:sp>
        <p:nvSpPr>
          <p:cNvPr id="14" name="Text 11"/>
          <p:cNvSpPr/>
          <p:nvPr/>
        </p:nvSpPr>
        <p:spPr>
          <a:xfrm>
            <a:off x="7775019" y="6010632"/>
            <a:ext cx="3114080" cy="328255"/>
          </a:xfrm>
          <a:prstGeom prst="rect">
            <a:avLst/>
          </a:prstGeom>
          <a:noFill/>
          <a:ln/>
        </p:spPr>
        <p:txBody>
          <a:bodyPr wrap="none" lIns="0" tIns="0" rIns="0" bIns="0" rtlCol="0" anchor="t"/>
          <a:lstStyle/>
          <a:p>
            <a:pPr marL="0" indent="0" algn="l">
              <a:lnSpc>
                <a:spcPts val="2550"/>
              </a:lnSpc>
              <a:buNone/>
            </a:pPr>
            <a:r>
              <a:rPr lang="en-US" sz="2050" dirty="0">
                <a:solidFill>
                  <a:srgbClr val="3B3535"/>
                </a:solidFill>
                <a:latin typeface="Red Hat Text" pitchFamily="34" charset="0"/>
                <a:ea typeface="Red Hat Text" pitchFamily="34" charset="-122"/>
                <a:cs typeface="Red Hat Text" pitchFamily="34" charset="-120"/>
              </a:rPr>
              <a:t>User-Friendly Visualization</a:t>
            </a:r>
            <a:endParaRPr lang="en-US" sz="2050" dirty="0"/>
          </a:p>
        </p:txBody>
      </p:sp>
      <p:sp>
        <p:nvSpPr>
          <p:cNvPr id="15" name="Text 12"/>
          <p:cNvSpPr/>
          <p:nvPr/>
        </p:nvSpPr>
        <p:spPr>
          <a:xfrm>
            <a:off x="7775019" y="6472833"/>
            <a:ext cx="6073854" cy="714613"/>
          </a:xfrm>
          <a:prstGeom prst="rect">
            <a:avLst/>
          </a:prstGeom>
          <a:noFill/>
          <a:ln/>
        </p:spPr>
        <p:txBody>
          <a:bodyPr wrap="square" lIns="0" tIns="0" rIns="0" bIns="0" rtlCol="0" anchor="t"/>
          <a:lstStyle/>
          <a:p>
            <a:pPr marL="0" indent="0" algn="l">
              <a:lnSpc>
                <a:spcPts val="2800"/>
              </a:lnSpc>
              <a:buNone/>
            </a:pPr>
            <a:r>
              <a:rPr lang="en-US" sz="1750" dirty="0">
                <a:solidFill>
                  <a:srgbClr val="3B3535"/>
                </a:solidFill>
                <a:latin typeface="Roboto Light" pitchFamily="34" charset="0"/>
                <a:ea typeface="Roboto Light" pitchFamily="34" charset="-122"/>
                <a:cs typeface="Roboto Light" pitchFamily="34" charset="-120"/>
              </a:rPr>
              <a:t>Visual insights (charts, word clouds) make complex data easier to understand, facilitating informed decision-making.</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1665208"/>
            <a:ext cx="7040166" cy="704017"/>
          </a:xfrm>
          <a:prstGeom prst="rect">
            <a:avLst/>
          </a:prstGeom>
          <a:noFill/>
          <a:ln/>
        </p:spPr>
        <p:txBody>
          <a:bodyPr wrap="none" lIns="0" tIns="0" rIns="0" bIns="0" rtlCol="0" anchor="t"/>
          <a:lstStyle/>
          <a:p>
            <a:pPr marL="0" indent="0" algn="l">
              <a:lnSpc>
                <a:spcPts val="5500"/>
              </a:lnSpc>
              <a:buNone/>
            </a:pPr>
            <a:r>
              <a:rPr lang="en-US" sz="4400" dirty="0">
                <a:solidFill>
                  <a:srgbClr val="1F1E1E"/>
                </a:solidFill>
                <a:latin typeface="Red Hat Text" pitchFamily="34" charset="0"/>
                <a:ea typeface="Red Hat Text" pitchFamily="34" charset="-122"/>
                <a:cs typeface="Red Hat Text" pitchFamily="34" charset="-120"/>
              </a:rPr>
              <a:t>Conclusion and Future Work</a:t>
            </a:r>
            <a:endParaRPr lang="en-US" sz="4400" dirty="0"/>
          </a:p>
        </p:txBody>
      </p:sp>
      <p:sp>
        <p:nvSpPr>
          <p:cNvPr id="3" name="Text 1"/>
          <p:cNvSpPr/>
          <p:nvPr/>
        </p:nvSpPr>
        <p:spPr>
          <a:xfrm>
            <a:off x="837724" y="2847975"/>
            <a:ext cx="12954952" cy="1915120"/>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This project successfully develops an advanced system for sentiment and emotion analysis of text data across multiple formats. By utilizing machine learning algorithms like Naive Bayes and transformer models like BERT, the system provides accurate and real-time sentiment analysis. The integration of real-time web scraping and interactive visualizations ensures the system's practicality for a wide range of applications in social media analysis, document analysis, and web sentiment tracking.</a:t>
            </a:r>
            <a:endParaRPr lang="en-US" sz="1850" dirty="0"/>
          </a:p>
        </p:txBody>
      </p:sp>
      <p:sp>
        <p:nvSpPr>
          <p:cNvPr id="4" name="Text 2"/>
          <p:cNvSpPr/>
          <p:nvPr/>
        </p:nvSpPr>
        <p:spPr>
          <a:xfrm>
            <a:off x="837724" y="5032296"/>
            <a:ext cx="12954952" cy="1532096"/>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latin typeface="Roboto Light" pitchFamily="34" charset="0"/>
                <a:ea typeface="Roboto Light" pitchFamily="34" charset="-122"/>
                <a:cs typeface="Roboto Light" pitchFamily="34" charset="-120"/>
              </a:rPr>
              <a:t>Future developments could include the incorporation of more advanced deep learning models, support for multiple languages and dialects, and greater integration with other platforms for even more comprehensive social media analytics. Additionally, efforts could be made to improve the system's ability to interpret images, videos, and other multimedia content, which are often a large part of social media communication.</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856</Words>
  <Application>Microsoft Office PowerPoint</Application>
  <PresentationFormat>Custom</PresentationFormat>
  <Paragraphs>73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Red Hat Text</vt:lpstr>
      <vt:lpstr>Roboto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HEMESH M</cp:lastModifiedBy>
  <cp:revision>2</cp:revision>
  <dcterms:created xsi:type="dcterms:W3CDTF">2025-04-04T02:24:25Z</dcterms:created>
  <dcterms:modified xsi:type="dcterms:W3CDTF">2026-03-19T03:07:34Z</dcterms:modified>
</cp:coreProperties>
</file>